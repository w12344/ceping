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530352"/>
            <a:ext cx="8183880" cy="713232"/>
          </a:xfrm>
          <a:prstGeom prst="rect">
            <a:avLst/>
          </a:prstGeom>
          <a:solidFill>
            <a:srgbClr val="3A3036"/>
          </a:solidFill>
          <a:ln w="12700">
            <a:solidFill>
              <a:srgbClr val="3A30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2208" y="530352"/>
            <a:ext cx="1234440" cy="713232"/>
          </a:xfrm>
          <a:prstGeom prst="chevron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62288" y="530352"/>
            <a:ext cx="2194560" cy="71323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658368"/>
            <a:ext cx="347472" cy="347472"/>
          </a:xfrm>
          <a:prstGeom prst="ellipse">
            <a:avLst/>
          </a:prstGeom>
          <a:solidFill>
            <a:srgbClr val="FACC15">
              <a:alpha val="14000"/>
            </a:srgbClr>
          </a:solidFill>
          <a:ln w="1397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8657" y="693115"/>
            <a:ext cx="222382" cy="22238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694944"/>
            <a:ext cx="38404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选人三角形标准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3520440" y="1627632"/>
            <a:ext cx="1005840" cy="1060704"/>
          </a:xfrm>
          <a:prstGeom prst="triangl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889504"/>
            <a:ext cx="2286000" cy="914400"/>
          </a:xfrm>
          <a:prstGeom prst="trapezoid">
            <a:avLst/>
          </a:prstGeom>
          <a:solidFill>
            <a:srgbClr val="F8B400"/>
          </a:solidFill>
          <a:ln w="12700">
            <a:solidFill>
              <a:srgbClr val="F8B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4069080"/>
            <a:ext cx="3566160" cy="914400"/>
          </a:xfrm>
          <a:prstGeom prst="trapezoid">
            <a:avLst/>
          </a:prstGeom>
          <a:solidFill>
            <a:srgbClr val="E9A400"/>
          </a:solidFill>
          <a:ln w="12700">
            <a:solidFill>
              <a:srgbClr val="E9A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1768" y="184708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938528"/>
            <a:ext cx="960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880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决定个人价值与薪酬水平，需要持续提升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4297680" y="2185416"/>
            <a:ext cx="685800" cy="0"/>
          </a:xfrm>
          <a:prstGeom prst="line">
            <a:avLst/>
          </a:prstGeom>
          <a:noFill/>
          <a:ln w="15240">
            <a:solidFill>
              <a:srgbClr val="FACC1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306324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154680"/>
            <a:ext cx="960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特质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29400" y="3182112"/>
            <a:ext cx="2880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岗位适配性：如顾问需目标感强、教练需热爱育人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4297680" y="3401568"/>
            <a:ext cx="1188720" cy="0"/>
          </a:xfrm>
          <a:prstGeom prst="line">
            <a:avLst/>
          </a:prstGeom>
          <a:noFill/>
          <a:ln w="1524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07608" y="4261104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4352544"/>
            <a:ext cx="960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底色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132320" y="4379976"/>
            <a:ext cx="2880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价值观、世界观：决定是否适配公司，优先选择同频者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4297680" y="4599432"/>
            <a:ext cx="1691640" cy="0"/>
          </a:xfrm>
          <a:prstGeom prst="line">
            <a:avLst/>
          </a:prstGeom>
          <a:noFill/>
          <a:ln w="1524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5504688"/>
            <a:ext cx="10058400" cy="512064"/>
          </a:xfrm>
          <a:prstGeom prst="roundRect">
            <a:avLst>
              <a:gd name="adj" fmla="val 14286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5614416"/>
            <a:ext cx="9555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我们之前已经做过底色相关培训，这次重点展开的是“特质”：看见一个人更自然的工作方式，以及他更适合在哪类岗位和任务中发挥价值。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658368"/>
            <a:ext cx="566928" cy="566928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0415" y="715061"/>
            <a:ext cx="362834" cy="36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89888" y="658368"/>
            <a:ext cx="566928" cy="566928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1935" y="715061"/>
            <a:ext cx="362834" cy="36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21408" y="658368"/>
            <a:ext cx="566928" cy="566928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3455" y="715061"/>
            <a:ext cx="362834" cy="3628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1572768"/>
            <a:ext cx="86868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FTH职业特质测评-小凡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94944" y="2395728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面向用户运营、老师、教练、教务、HRBP 等团队岗位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4944" y="2944368"/>
            <a:ext cx="84124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用三大特质与六大分型，帮助员工识别优势、理解差异、优化协作、找到更合适的岗位与成长路径。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4944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886200"/>
            <a:ext cx="90525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用户增长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92808" y="38221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886200"/>
            <a:ext cx="9966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课程与分析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82112" y="38221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3886200"/>
            <a:ext cx="9966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教务与赋能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71416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ACC15">
              <a:alpha val="16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3886200"/>
            <a:ext cx="90525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" y="5559552"/>
            <a:ext cx="4206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非凡教育团队宣讲版｜岗位建议统一版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教育团队更需要看见“人”的工作方式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同样是服务用户和推动结果，不同岗位需要不同的能量来源、判断方式和协作方式。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423160"/>
            <a:ext cx="493776" cy="493776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568" y="24725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55064" y="239572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用户转化更依赖节奏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55064" y="27706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市场、顾问、社群和续费场景，需要有人快速行动、持续推进。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2423160"/>
            <a:ext cx="493776" cy="493776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9952" y="24725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13448" y="239572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教学服务更依赖判断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13448" y="27706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学情、用户需求、课程效果和经营数据，需要有人拆解和判断。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023360"/>
            <a:ext cx="493776" cy="493776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568" y="40727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55064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长期交付更依赖稳定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55064" y="43708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老师、教练、教务、HRBP 都在帮助人和系统更好地运转。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53328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023360"/>
            <a:ext cx="493776" cy="493776"/>
          </a:xfrm>
          <a:prstGeom prst="ellipse">
            <a:avLst/>
          </a:prstGeom>
          <a:solidFill>
            <a:srgbClr val="FACC15">
              <a:alpha val="14000"/>
            </a:srgbClr>
          </a:solidFill>
          <a:ln w="1397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952" y="4072738"/>
            <a:ext cx="316017" cy="31601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◎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13448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岗位匹配不是贴标签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13448" y="4370832"/>
            <a:ext cx="3337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测评用于发展对话，让人更好地理解自己适合在哪些场景发力。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三大特质对应教育团队的三种核心能力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不是判断谁更好，而是识别每个人更自然的贡献方式。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496312"/>
            <a:ext cx="548640" cy="54864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9731" y="2551176"/>
            <a:ext cx="351130" cy="3511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Fighter / 结果推进力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50976" y="4023360"/>
            <a:ext cx="2523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让目标进入真实行动：招生转化、活动推进、关键问题攻坚。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370832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2496312"/>
            <a:ext cx="548640" cy="54864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5619" y="2551176"/>
            <a:ext cx="351130" cy="3511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26864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26864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Thinker / 结构判断力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4626864" y="4023360"/>
            <a:ext cx="2523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把复杂问题想清楚：用户分析、课程体系、方法沉淀。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046720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2496312"/>
            <a:ext cx="548640" cy="54864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1507" y="2551176"/>
            <a:ext cx="351130" cy="35113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02752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02752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Helper / 服务协同力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302752" y="4023360"/>
            <a:ext cx="252374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让人和流程更稳定：老师教练支持、教务流程、HRBP 赋能。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六大分型：教育公司里的六种贡献模式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三大特质决定底层驱动力，六大分型帮助识别更具体的岗位建议。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37944" y="2103120"/>
            <a:ext cx="713232" cy="71323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6326" y="2174443"/>
            <a:ext cx="456468" cy="456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推进结果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70432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冲刺型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1252728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40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攻坚型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2423160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Climber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94376" y="2103120"/>
            <a:ext cx="713232" cy="71323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758" y="2174443"/>
            <a:ext cx="456468" cy="456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26864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构建认知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26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分析型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709160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Analyzer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97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创构型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5879592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50808" y="2103120"/>
            <a:ext cx="713232" cy="71323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9190" y="2174443"/>
            <a:ext cx="456468" cy="456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083296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赋能系统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083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人际型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8165592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Socializer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53728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6024" y="4069080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流程型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9336024" y="4334256"/>
            <a:ext cx="7863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ATTRIBUTE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 Fighter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为结果而战的人：目标、行动、突破、竞争、结果。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组织的结果推进力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他们喜欢把事情推向真实战场，在压力和目标中被激发。适合招生转化、市场活动、关键推进和复杂问题攻坚。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目标越清晰，战斗力越强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不等条件完美，先行动起来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需要用复盘和资源协同提升上限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在明确目标下快速行动、快速反馈、快速拿结果。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攻坚型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Climber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面对困难不退，能在阻力中持续推进、拿下硬仗。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冲刺型 Runner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在明确目标下快速行动、快速反馈、快速拿结果。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能把机会窗口快速转成动作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适合目标明确、节奏紧的任务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能带动团队从讨论进入行动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招生冲刺、市场活动、社群增长、短期项目推进、转化节点跟进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用户运营部市场、招生/转化活动、社群增长、用户运营部顾问、短期项目推进、活动执行、渠道拓展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容易重速度、轻复盘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对慢节奏协同耐心不足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目标频繁变化时容易消耗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把每次冲刺沉淀成可复制打法：复盘、节奏管理、关键动作清单。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攻坚型 Climber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面对困难不退，能在阻力中持续推进、拿下硬仗。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EF4444">
              <a:alpha val="14000"/>
            </a:srgbClr>
          </a:solidFill>
          <a:ln w="1397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抗压和韧性强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适合关键用户和复杂场景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能在局面卡住时顶上去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重点用户转化、续费攻坚、复杂客户沟通、投诉处理、关键项目推进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用户运营部顾问、重点用户转化、复杂客户沟通、投诉/危机处理、重点项目攻坚、续费/转介绍推进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可能过度硬扛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长期高压容易透支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容易忽略资源协同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从个人硬冲升级为资源整合：拆路径、拉盟友、分阶段攻克。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ATTRIBUTE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 Thinker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用认知改变结果的人：分析、结构、洞察、创造、系统。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组织的结构判断力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他们关注问题背后的逻辑和规律，依靠判断、建模、设计和创造产生价值。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把复杂问题变清楚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把一次经验变成方法和系统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需要用真实业务反馈校准思考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能从复杂信息中找到规律、根因和更可靠的判断。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创构型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把想法搭成可运转的课程、系统、机制或方法论。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分析型 Analyzer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能从复杂信息中找到规律、根因和更可靠的判断。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能把混乱问题结构化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帮助组织少凭感觉决策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能识别关键变量和优先级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用户分析、学情分析、经营分析、转化复盘、课程效果评估、流程诊断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用户数据分析、学情分析、转化/续费分析、经营分析、用户研究、课程效果评估、流程诊断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可能想得深但行动慢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过度追求确定性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表达太理性时不易被听见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把分析变成决策建议：结论、依据、优先级、下一步动作。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创构型 Builder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把想法搭成可运转的课程、系统、机制或方法论。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8B5CF6">
              <a:alpha val="14000"/>
            </a:srgbClr>
          </a:solidFill>
          <a:ln w="1397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能从零到一搭东西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把经验沉淀为系统能力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关注扩展性和长期效率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课程体系、教研机制、运营体系、知识库、培训体系、用户成长路径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课程体系设计、教研/培训体系、运营体系搭建、知识库建设、SOP 设计、用户成长路径设计、组织机制设计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可能过度理想化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容易低估落地成本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对重复执行兴趣不足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持续贴近真实用户和一线业务现场，让设计被使用、被验证、被迭代。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ATTRIBUTE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 Helper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让人和系统更好运转的人：连接、支持、协调、稳定、成长。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组织的服务协同力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他们的价值不只体现在个人产出上，更体现在帮助他人变强、让团队更稳、让组织更顺畅。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让人愿意一起完成事情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把协作从靠感觉变成靠机制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需要边界感和业务目标牵引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人际型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Socializer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理解人、连接人、激发人，让团队更愿意一起完成事情。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107899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维护秩序、流程和细节，让组织稳定、可靠、长期运转。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人际型 Socializer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理解人、连接人、激发人，让团队更愿意一起完成事情。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共情和沟通敏感度高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擅长协调冲突、恢复连接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能营造安全感和投入感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用户沟通、家校沟通、老师/教练支持、员工关系、跨部门协调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老师、教练、用户运营部顾问、HRBP、家校沟通、社群运营、培训、员工关系、跨部门协调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可能过度照顾感受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强冲突场景不够果断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容易承担过多情绪劳动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建立边界和结果意识：不是无限满足，而是帮助他人更成熟。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流程型 Keeper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维护秩序、流程和细节，让组织稳定、可靠、长期运转。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14B8A6">
              <a:alpha val="14000"/>
            </a:srgbClr>
          </a:solidFill>
          <a:ln w="1397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发现流程漏洞并补上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保障交付质量和节奏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让协作从靠人变成靠机制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教务排课、班务管理、流程运营、质量管理、交付管理、档案数据管理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教务、排课/班务管理、流程运营、质量管理、交付管理、HRBP 运营支持、人事行政、数据/档案管理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可能灵活性不足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面对模糊变化会不适应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流程若脱离目标会变成负担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理解流程背后的业务目的：减少混乱、提升效率、保障结果。</a:t>
            </a:r>
            <a:endParaRPr lang="en-US" sz="12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最强团队不是同类相加，而是三种能力互补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Fighter 打开增长和推进，Thinker 判断方向和方法，Helper 托住服务与系统。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9731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01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078992" y="294436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用户触达与转化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8992" y="3529584"/>
            <a:ext cx="22402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Runner 推活动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Climber 攻重点用户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42569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60A5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02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645152" y="294436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课程与服务设计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45152" y="3529584"/>
            <a:ext cx="22402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Analyzer 看数据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Builder 搭体系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799185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03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211312" y="294436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长期交付与成长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11312" y="3529584"/>
            <a:ext cx="22402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Keeper 守流程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Socializer 促信任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1353312" y="5358384"/>
            <a:ext cx="9235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好团队不是所有人都一样强，而是关键任务上有人推进、有人判断、有人托底。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FTH职业特质测评-小凡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完成测评后，用主分型、次分型、第三倾向开启岗位建议和成长对话。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2084832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377440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测评怎么读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78992" y="296265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880360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主分型：用于判断首选岗位方向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78992" y="33467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264408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次分型：用于判断复合岗位和工作风格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78992" y="3730752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648456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第三倾向：用于判断补充能力、协作角色和培养方向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078992" y="411480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32504"/>
            <a:ext cx="46542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结果不用于给人贴标签，只用于发展对话和团队搭配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114032" y="1993392"/>
            <a:ext cx="3200400" cy="3246120"/>
          </a:xfrm>
          <a:prstGeom prst="roundRect">
            <a:avLst>
              <a:gd name="adj" fmla="val 2286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2267712"/>
            <a:ext cx="2395728" cy="2395728"/>
          </a:xfrm>
          <a:prstGeom prst="rect">
            <a:avLst/>
          </a:prstGeom>
          <a:solidFill>
            <a:srgbClr val="FFFFFF"/>
          </a:solidFill>
          <a:ln w="1778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202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0665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129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5592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056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519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983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0373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7837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0227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2618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0082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7545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009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7399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4863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2326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790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7253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4717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2180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202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10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03739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7837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53009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7691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51550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2618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00820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7545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0090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2472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7399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72180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3202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8129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55929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3056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7983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7837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53009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02279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7691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618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50090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7399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2326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7900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57253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2180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3202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8129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55929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3056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03739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2764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02279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7691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51550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7399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42326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97900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7253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2180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3202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78129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855929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3056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7983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2910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03739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37837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67691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00820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97545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50090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27399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2326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97900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57253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72180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632024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303739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453009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527644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02279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7545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050090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2472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27399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72180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63202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78129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93056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07983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22910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37837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2764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67691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82618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97545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12472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27399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42326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57253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72180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378374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453009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602279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676914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826185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900820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975455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63202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8129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93056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07983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7837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691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751550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975455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124725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423265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647170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63202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005199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154469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37837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2764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67691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75155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124725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19936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273995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34863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49790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721805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00519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079834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15446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30373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60227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90082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12472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19936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42326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57253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64717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72180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81294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154469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78374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751550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124725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199360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273995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647170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706659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78129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855929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93056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005199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07983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22910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37837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52764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82618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05009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2472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19936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27399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34863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49790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64717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72180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70665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30564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00519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15446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229104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45300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527644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60227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75155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826185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90082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19936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273995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49790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721805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63202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7983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303739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37837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453009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67691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5155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82618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97545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19936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34863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49790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64717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2180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63202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70665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78129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85592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0373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7837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0227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691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826185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90082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975455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5009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34863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49790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64717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63202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78129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855929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93056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07983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154469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22910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37837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52764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67691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5155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7545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05009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12472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19936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27399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34863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9790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64717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72180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706659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78129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93056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154469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22910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867691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751550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97545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12472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27399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497900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57253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72180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63202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85592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93056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07983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22910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30373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37837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52764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0227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900820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9273995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9348630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9423265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9647170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9721805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7706659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7930564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005199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8229104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8453009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8527644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75155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05009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273995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9790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4717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63202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778129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7855929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807983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822910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303739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8453009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882618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12472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199360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27399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348630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42326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229104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8378374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8602279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875155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882618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890082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05009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12472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42326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57253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64717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972180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63202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770665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778129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785592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793056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00519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807983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845300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852764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867691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875155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882618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897545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05009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912472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927399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942326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949790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964717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972180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632024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303739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8378374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8453009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8602279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676914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82618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900820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897545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912472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942326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9497900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9647170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763202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778129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7855929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793056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807983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822910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867691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751550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897545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912472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9199360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927399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9348630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942326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763202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778129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7855929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793056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837837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852764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8602279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867691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8751550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8975455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9050090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9348630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9423265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9572535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63202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78129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855929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93056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807983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822910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8303739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837837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852764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8602279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867691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890082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905009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9124725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919936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934863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9423265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949790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9721805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63202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8303739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837837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8453009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852764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8602279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875155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9124725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919936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934863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964717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763202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770665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78129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85592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793056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800519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807983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822910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837837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882618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905009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912472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934863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942326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949790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964717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972180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3" name="Text 431"/>
          <p:cNvSpPr/>
          <p:nvPr/>
        </p:nvSpPr>
        <p:spPr>
          <a:xfrm>
            <a:off x="7242048" y="5047488"/>
            <a:ext cx="29077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扫码开始测评</a:t>
            </a:r>
            <a:endParaRPr lang="en-US" sz="1200" dirty="0"/>
          </a:p>
        </p:txBody>
      </p:sp>
      <p:sp>
        <p:nvSpPr>
          <p:cNvPr id="434" name="Text 432"/>
          <p:cNvSpPr/>
          <p:nvPr/>
        </p:nvSpPr>
        <p:spPr>
          <a:xfrm>
            <a:off x="914400" y="5559552"/>
            <a:ext cx="99669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https://test.msrtai.com/</a:t>
            </a:r>
            <a:endParaRPr lang="en-US" sz="1200" dirty="0"/>
          </a:p>
        </p:txBody>
      </p:sp>
      <p:sp>
        <p:nvSpPr>
          <p:cNvPr id="435" name="Text 433"/>
          <p:cNvSpPr/>
          <p:nvPr/>
        </p:nvSpPr>
        <p:spPr>
          <a:xfrm>
            <a:off x="914400" y="5870448"/>
            <a:ext cx="9966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建议现场完成后，以主分型、次分型、第三倾向作为岗位建议和团队搭配的讨论起点。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LEARNING METHOD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西蒙学习法：有效学习的三个要素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特质测评帮助我们看见适合的发力方式，学习法帮助我们把优势持续练出来。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755648"/>
            <a:ext cx="5705856" cy="713232"/>
          </a:xfrm>
          <a:prstGeom prst="roundRect">
            <a:avLst>
              <a:gd name="adj" fmla="val 10256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901952"/>
            <a:ext cx="53400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西蒙学习法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06440" y="2606040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051560" y="3246120"/>
            <a:ext cx="1965960" cy="1965960"/>
          </a:xfrm>
          <a:prstGeom prst="ellipse">
            <a:avLst/>
          </a:prstGeom>
          <a:solidFill>
            <a:srgbClr val="60A5FA">
              <a:alpha val="90000"/>
            </a:srgbClr>
          </a:solidFill>
          <a:ln w="1778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3703320"/>
            <a:ext cx="15727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积极的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学习动机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5376672"/>
            <a:ext cx="2423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愿意学，是启动学习的第一推动力。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290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4754880" y="3246120"/>
            <a:ext cx="1965960" cy="1965960"/>
          </a:xfrm>
          <a:prstGeom prst="ellipse">
            <a:avLst/>
          </a:prstGeom>
          <a:solidFill>
            <a:srgbClr val="FACC15">
              <a:alpha val="90000"/>
            </a:srgbClr>
          </a:solidFill>
          <a:ln w="1778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3703320"/>
            <a:ext cx="15727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有效的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学习方法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26280" y="5376672"/>
            <a:ext cx="2423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会学，能让努力转化为真实进步。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8458200" y="3246120"/>
            <a:ext cx="1965960" cy="1965960"/>
          </a:xfrm>
          <a:prstGeom prst="ellipse">
            <a:avLst/>
          </a:prstGeom>
          <a:solidFill>
            <a:srgbClr val="22C55E">
              <a:alpha val="90000"/>
            </a:srgbClr>
          </a:solidFill>
          <a:ln w="1778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59368" y="3703320"/>
            <a:ext cx="157276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必要的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时间投入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9600" y="5376672"/>
            <a:ext cx="2423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持续投入，才能让能力稳定长出来。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143000" y="5870448"/>
            <a:ext cx="9738360" cy="411480"/>
          </a:xfrm>
          <a:prstGeom prst="roundRect">
            <a:avLst>
              <a:gd name="adj" fmla="val 17778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5961888"/>
            <a:ext cx="92811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学习效果不是单点决定的：有动机、有方法、有时间，三者相乘，才会产生持续成长。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实施学习法的 4 个步骤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从选择开始，到目标、拆分和集中，形成一套可执行的学习闭环。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" y="1783080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938528"/>
            <a:ext cx="658368" cy="438912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2039112"/>
            <a:ext cx="42062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1965960"/>
            <a:ext cx="1234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做选择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30752" y="1984248"/>
            <a:ext cx="6263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先选定真正值得投入的学习主题，减少分散消耗。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1143000" y="2770632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926080"/>
            <a:ext cx="658368" cy="438912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3026664"/>
            <a:ext cx="42062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2953512"/>
            <a:ext cx="1234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设目标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30752" y="2971800"/>
            <a:ext cx="6263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把学习变成清晰目标：学到什么、做到什么、何时完成。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1143000" y="3758184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3913632"/>
            <a:ext cx="658368" cy="438912"/>
          </a:xfrm>
          <a:prstGeom prst="roundRect">
            <a:avLst>
              <a:gd name="adj" fmla="val 16667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6192" y="4014216"/>
            <a:ext cx="42062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31720" y="3941064"/>
            <a:ext cx="1234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会拆分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30752" y="3959352"/>
            <a:ext cx="6263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把大目标拆成小模块、小任务、小反馈，降低启动难度。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1143000" y="4745736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4901184"/>
            <a:ext cx="658368" cy="438912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6192" y="5001768"/>
            <a:ext cx="42062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31720" y="4928616"/>
            <a:ext cx="1234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能集中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730752" y="4946904"/>
            <a:ext cx="6263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留出不被打扰的时间块，集中注意力完成关键练习。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1143000" y="5833872"/>
            <a:ext cx="9784080" cy="457200"/>
          </a:xfrm>
          <a:prstGeom prst="roundRect">
            <a:avLst>
              <a:gd name="adj" fmla="val 16000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5943600"/>
            <a:ext cx="9235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 4 步可以作为员工后续成长计划的通用方法：选择方向、设定目标、拆解路径、集中训练。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非凡教育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FTH职业特质测评-小凡</dc:title>
  <dc:subject>FTH职业特质测评-小凡</dc:subject>
  <dc:creator>Codex</dc:creator>
  <cp:lastModifiedBy>Codex</cp:lastModifiedBy>
  <cp:revision>1</cp:revision>
  <dcterms:created xsi:type="dcterms:W3CDTF">2026-06-11T07:47:01Z</dcterms:created>
  <dcterms:modified xsi:type="dcterms:W3CDTF">2026-06-11T07:47:01Z</dcterms:modified>
</cp:coreProperties>
</file>