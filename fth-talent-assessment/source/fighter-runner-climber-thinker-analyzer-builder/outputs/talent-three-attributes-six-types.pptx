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sv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svg"/><Relationship Id="rId3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svg"/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685800" y="723900"/>
            <a:ext cx="552450" cy="552450"/>
          </a:xfrm>
          <a:prstGeom prst="ellipse">
            <a:avLst/>
          </a:prstGeom>
          <a:solidFill>
            <a:srgbClr val="F97316">
              <a:alpha val="13333"/>
            </a:srgbClr>
          </a:solidFill>
          <a:ln w="13335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486" y="878586"/>
            <a:ext cx="243078" cy="243078"/>
          </a:xfrm>
          <a:prstGeom prst="rect">
            <a:avLst/>
          </a:prstGeom>
        </p:spPr>
      </p:pic>
      <p:sp>
        <p:nvSpPr>
          <p:cNvPr id="7" name="椭圆 6"/>
          <p:cNvSpPr>
            <a:spLocks noGrp="1"/>
          </p:cNvSpPr>
          <p:nvPr/>
        </p:nvSpPr>
        <p:spPr>
          <a:xfrm>
            <a:off x="1409700" y="723900"/>
            <a:ext cx="552450" cy="552450"/>
          </a:xfrm>
          <a:prstGeom prst="ellipse">
            <a:avLst/>
          </a:prstGeom>
          <a:solidFill>
            <a:srgbClr val="60A5FA">
              <a:alpha val="13333"/>
            </a:srgbClr>
          </a:solidFill>
          <a:ln w="13335">
            <a:solidFill>
              <a:srgbClr val="60A5FA">
                <a:alpha val="40000"/>
              </a:srgbClr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4386" y="878586"/>
            <a:ext cx="243078" cy="243078"/>
          </a:xfrm>
          <a:prstGeom prst="rect">
            <a:avLst/>
          </a:prstGeom>
        </p:spPr>
      </p:pic>
      <p:sp>
        <p:nvSpPr>
          <p:cNvPr id="9" name="椭圆 8"/>
          <p:cNvSpPr>
            <a:spLocks noGrp="1"/>
          </p:cNvSpPr>
          <p:nvPr/>
        </p:nvSpPr>
        <p:spPr>
          <a:xfrm>
            <a:off x="2133600" y="723900"/>
            <a:ext cx="552450" cy="552450"/>
          </a:xfrm>
          <a:prstGeom prst="ellipse">
            <a:avLst/>
          </a:prstGeom>
          <a:solidFill>
            <a:srgbClr val="22C55E">
              <a:alpha val="13333"/>
            </a:srgbClr>
          </a:solidFill>
          <a:ln w="1333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8286" y="878586"/>
            <a:ext cx="243078" cy="243078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85800" y="1695450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人才三大主属性与六大分型</a:t>
            </a:r>
            <a:endParaRPr sz="32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2571750"/>
            <a:ext cx="7810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用一套更容易理解的职业语言，帮助员工识别优势、理解差异、优化协作、设计成长路径。</a:t>
            </a:r>
            <a:endParaRPr sz="172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23900" y="3714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F97316">
              <a:alpha val="13333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781425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Fighter 进取者</a:t>
            </a:r>
            <a:endParaRPr sz="9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419350" y="3714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60A5FA">
              <a:alpha val="13333"/>
            </a:srgbClr>
          </a:solidFill>
          <a:ln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533650" y="3781425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Thinker 思辨者</a:t>
            </a:r>
            <a:endParaRPr sz="975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114800" y="3714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22C55E">
              <a:alpha val="13333"/>
            </a:srgbClr>
          </a:solidFill>
          <a:ln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29100" y="3781425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Helper 赋能者</a:t>
            </a:r>
            <a:endParaRPr sz="975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" y="5562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内部宣讲版</a:t>
            </a:r>
            <a:endParaRPr sz="13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WHY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这个模型不是贴标签，而是建立协作语言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每个人都不只属于一种类型；模型的价值在于看见优势、场景和补位方向。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2266950"/>
            <a:ext cx="4857750" cy="1257300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914400" y="2533650"/>
            <a:ext cx="533400" cy="533400"/>
          </a:xfrm>
          <a:prstGeom prst="ellipse">
            <a:avLst/>
          </a:prstGeom>
          <a:solidFill>
            <a:srgbClr val="F97316">
              <a:alpha val="13333"/>
            </a:srgbClr>
          </a:solidFill>
          <a:ln w="13335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752" y="2683002"/>
            <a:ext cx="234696" cy="234696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638300" y="25336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识别优势</a:t>
            </a:r>
            <a:endParaRPr sz="18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38300" y="2933700"/>
            <a:ext cx="3333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知道自己在哪些任务里最容易创造价值。</a:t>
            </a:r>
            <a:endParaRPr sz="12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96000" y="2266950"/>
            <a:ext cx="4857750" cy="1257300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6324600" y="2533650"/>
            <a:ext cx="533400" cy="533400"/>
          </a:xfrm>
          <a:prstGeom prst="ellipse">
            <a:avLst/>
          </a:prstGeom>
          <a:solidFill>
            <a:srgbClr val="60A5FA">
              <a:alpha val="13333"/>
            </a:srgbClr>
          </a:solidFill>
          <a:ln w="13335">
            <a:solidFill>
              <a:srgbClr val="60A5FA">
                <a:alpha val="40000"/>
              </a:srgbClr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3952" y="2683002"/>
            <a:ext cx="234696" cy="234696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048500" y="25336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理解差异</a:t>
            </a:r>
            <a:endParaRPr sz="18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48500" y="2933700"/>
            <a:ext cx="3333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理解别人为什么用不同节奏、语言和标准工作。</a:t>
            </a:r>
            <a:endParaRPr sz="12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3962400"/>
            <a:ext cx="4857750" cy="1257300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914400" y="4229100"/>
            <a:ext cx="533400" cy="533400"/>
          </a:xfrm>
          <a:prstGeom prst="ellipse">
            <a:avLst/>
          </a:prstGeom>
          <a:solidFill>
            <a:srgbClr val="22C55E">
              <a:alpha val="13333"/>
            </a:srgbClr>
          </a:solidFill>
          <a:ln w="1333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752" y="4378452"/>
            <a:ext cx="234696" cy="234696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1638300" y="42291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优化协作</a:t>
            </a:r>
            <a:endParaRPr sz="18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638300" y="4629150"/>
            <a:ext cx="3333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把不同类型组合成更完整的团队能力。</a:t>
            </a:r>
            <a:endParaRPr sz="12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096000" y="3962400"/>
            <a:ext cx="4857750" cy="1257300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9525">
            <a:solidFill>
              <a:srgbClr val="FACC15">
                <a:alpha val="33333"/>
              </a:srgbClr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6324600" y="4229100"/>
            <a:ext cx="533400" cy="533400"/>
          </a:xfrm>
          <a:prstGeom prst="ellipse">
            <a:avLst/>
          </a:prstGeom>
          <a:solidFill>
            <a:srgbClr val="FACC15">
              <a:alpha val="13333"/>
            </a:srgbClr>
          </a:solidFill>
          <a:ln w="13335">
            <a:solidFill>
              <a:srgbClr val="FACC15">
                <a:alpha val="40000"/>
              </a:srgbClr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3952" y="4378452"/>
            <a:ext cx="234696" cy="234696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7048500" y="42291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设计成长</a:t>
            </a:r>
            <a:endParaRPr sz="18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48500" y="4629150"/>
            <a:ext cx="3333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从主属性出发，补上下一阶段所需能力。</a:t>
            </a:r>
            <a:endParaRPr sz="12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OVERVIEW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三大主属性：攻击力、认知力、协同力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一个高效组织，需要有人打开战场、有人判断方向、有人托住系统。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2247900"/>
            <a:ext cx="3200400" cy="2705100"/>
          </a:xfrm>
          <a:prstGeom prst="roundRect">
            <a:avLst>
              <a:gd name="adj" fmla="val 2817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952500" y="2533650"/>
            <a:ext cx="571500" cy="571500"/>
          </a:xfrm>
          <a:prstGeom prst="ellipse">
            <a:avLst/>
          </a:prstGeom>
          <a:solidFill>
            <a:srgbClr val="F97316">
              <a:alpha val="13333"/>
            </a:srgbClr>
          </a:solidFill>
          <a:ln w="13335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520" y="2693670"/>
            <a:ext cx="251460" cy="25146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952500" y="32766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进取者</a:t>
            </a:r>
            <a:endParaRPr sz="20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36671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Fighter </a:t>
            </a:r>
            <a:endParaRPr sz="12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4114800"/>
            <a:ext cx="257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执行力强、进攻性猛，适合做销售、市场、拓展和关键推进。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81500" y="2247900"/>
            <a:ext cx="3200400" cy="2705100"/>
          </a:xfrm>
          <a:prstGeom prst="roundRect">
            <a:avLst>
              <a:gd name="adj" fmla="val 2817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4648200" y="2533650"/>
            <a:ext cx="571500" cy="571500"/>
          </a:xfrm>
          <a:prstGeom prst="ellipse">
            <a:avLst/>
          </a:prstGeom>
          <a:solidFill>
            <a:srgbClr val="60A5FA">
              <a:alpha val="13333"/>
            </a:srgbClr>
          </a:solidFill>
          <a:ln w="13335">
            <a:solidFill>
              <a:srgbClr val="60A5FA">
                <a:alpha val="40000"/>
              </a:srgbClr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8220" y="2693670"/>
            <a:ext cx="251460" cy="25146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4648200" y="32766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思辨者</a:t>
            </a:r>
            <a:endParaRPr sz="20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48200" y="36671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Thinker 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648200" y="4114800"/>
            <a:ext cx="257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脑子聪明、擅长分析和架构，适合参谋、中台、运营、产品、研发。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077200" y="2247900"/>
            <a:ext cx="3200400" cy="2705100"/>
          </a:xfrm>
          <a:prstGeom prst="roundRect">
            <a:avLst>
              <a:gd name="adj" fmla="val 2817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343900" y="2533650"/>
            <a:ext cx="571500" cy="571500"/>
          </a:xfrm>
          <a:prstGeom prst="ellipse">
            <a:avLst/>
          </a:prstGeom>
          <a:solidFill>
            <a:srgbClr val="22C55E">
              <a:alpha val="13333"/>
            </a:srgbClr>
          </a:solidFill>
          <a:ln w="1333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920" y="2693670"/>
            <a:ext cx="251460" cy="25146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8343900" y="32766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赋能者</a:t>
            </a:r>
            <a:endParaRPr sz="20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43900" y="36671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Helper </a:t>
            </a:r>
            <a:endParaRPr sz="1200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43900" y="4114800"/>
            <a:ext cx="2571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擅长协作赋能、稳定团队，适合教师、教练、HRBP、流程治理。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MAP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六大分型：从主属性到具体工作风格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三大属性决定底层驱动力，六个分型帮助我们识别更具体的优势场景。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2000250" y="2533650"/>
            <a:ext cx="914400" cy="914400"/>
          </a:xfrm>
          <a:prstGeom prst="ellipse">
            <a:avLst/>
          </a:prstGeom>
          <a:solidFill>
            <a:srgbClr val="F97316">
              <a:alpha val="13333"/>
            </a:srgbClr>
          </a:solidFill>
          <a:ln w="13335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6282" y="2789682"/>
            <a:ext cx="402336" cy="402336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524000" y="3600450"/>
            <a:ext cx="186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进取者</a:t>
            </a:r>
            <a:endParaRPr sz="187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24000" y="3943350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Fighter</a:t>
            </a:r>
            <a:endParaRPr sz="12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314450" y="4762500"/>
            <a:ext cx="1257300" cy="74295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47800" y="4924425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冲刺型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47800" y="51816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Runner</a:t>
            </a:r>
            <a:endParaRPr sz="9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743200" y="4762500"/>
            <a:ext cx="1257300" cy="74295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9525">
            <a:solidFill>
              <a:srgbClr val="EF4444">
                <a:alpha val="33333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876550" y="4924425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攻坚型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76550" y="51816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Climber</a:t>
            </a:r>
            <a:endParaRPr sz="975" b="1">
              <a:solidFill>
                <a:srgbClr val="EF44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5429250" y="2533650"/>
            <a:ext cx="914400" cy="914400"/>
          </a:xfrm>
          <a:prstGeom prst="ellipse">
            <a:avLst/>
          </a:prstGeom>
          <a:solidFill>
            <a:srgbClr val="60A5FA">
              <a:alpha val="13333"/>
            </a:srgbClr>
          </a:solidFill>
          <a:ln w="13335">
            <a:solidFill>
              <a:srgbClr val="60A5FA">
                <a:alpha val="40000"/>
              </a:srgbClr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5282" y="2789682"/>
            <a:ext cx="402336" cy="402336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4953000" y="3600450"/>
            <a:ext cx="186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思辨者</a:t>
            </a:r>
            <a:endParaRPr sz="187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3943350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Thinker</a:t>
            </a:r>
            <a:endParaRPr sz="120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743450" y="4762500"/>
            <a:ext cx="1257300" cy="74295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876800" y="4924425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分析型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76800" y="51816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Analyzer</a:t>
            </a:r>
            <a:endParaRPr sz="975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172200" y="4762500"/>
            <a:ext cx="1257300" cy="74295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9525">
            <a:solidFill>
              <a:srgbClr val="8B5CF6">
                <a:alpha val="33333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305550" y="4924425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创构型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305550" y="51816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Builder</a:t>
            </a:r>
            <a:endParaRPr sz="975" b="1">
              <a:solidFill>
                <a:srgbClr val="8B5CF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8858250" y="2533650"/>
            <a:ext cx="914400" cy="914400"/>
          </a:xfrm>
          <a:prstGeom prst="ellipse">
            <a:avLst/>
          </a:prstGeom>
          <a:solidFill>
            <a:srgbClr val="22C55E">
              <a:alpha val="13333"/>
            </a:srgbClr>
          </a:solidFill>
          <a:ln w="1333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282" y="2789682"/>
            <a:ext cx="402336" cy="402336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8382000" y="3600450"/>
            <a:ext cx="186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赋能者</a:t>
            </a:r>
            <a:endParaRPr sz="187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82000" y="3943350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Helper</a:t>
            </a:r>
            <a:endParaRPr sz="1200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172450" y="4762500"/>
            <a:ext cx="1257300" cy="74295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305800" y="4924425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人际型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05800" y="51816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Socializer</a:t>
            </a:r>
            <a:endParaRPr sz="975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9601200" y="4762500"/>
            <a:ext cx="1257300" cy="742950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9525">
            <a:solidFill>
              <a:srgbClr val="14B8A6">
                <a:alpha val="33333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734550" y="4924425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流程型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734550" y="51816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Keeper</a:t>
            </a:r>
            <a:endParaRPr sz="975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ATTRIBUTE 01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进取者 Fighter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为结果而战的人：目标、行动、突破、竞争、结果。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05900" y="762000"/>
            <a:ext cx="914400" cy="914400"/>
          </a:xfrm>
          <a:prstGeom prst="ellipse">
            <a:avLst/>
          </a:prstGeom>
          <a:solidFill>
            <a:srgbClr val="F97316">
              <a:alpha val="13333"/>
            </a:srgbClr>
          </a:solidFill>
          <a:ln w="13335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1932" y="1018032"/>
            <a:ext cx="402336" cy="402336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66750" y="2000250"/>
            <a:ext cx="4953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组织的攻击力</a:t>
            </a:r>
            <a:endParaRPr sz="23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781300"/>
            <a:ext cx="5619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他们喜欢把事情推向真实战场，在压力和目标中被激发。适合外部突破、强推动、强结果导向的任务。</a:t>
            </a:r>
            <a:endParaRPr sz="15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762750" y="2476500"/>
            <a:ext cx="1524000" cy="200025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53250" y="27241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冲刺型</a:t>
            </a:r>
            <a:endParaRPr sz="17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53250" y="3076575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Runner</a:t>
            </a:r>
            <a:endParaRPr sz="12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53250" y="3562350"/>
            <a:ext cx="1143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在明确目标下快速行动、快速反馈、快速拿结果。</a:t>
            </a:r>
            <a:endParaRPr sz="112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477250" y="2476500"/>
            <a:ext cx="1524000" cy="200025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9525">
            <a:solidFill>
              <a:srgbClr val="EF4444">
                <a:alpha val="33333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67750" y="27241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攻坚型</a:t>
            </a:r>
            <a:endParaRPr sz="17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3076575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Climber</a:t>
            </a:r>
            <a:endParaRPr sz="1275" b="1">
              <a:solidFill>
                <a:srgbClr val="EF44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3562350"/>
            <a:ext cx="1143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面对困难不退，能在阻力中持续推进、拿下硬仗。</a:t>
            </a:r>
            <a:endParaRPr sz="112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85800" y="425767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417195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目标越清晰，战斗力越强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85800" y="4581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449580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不等条件完美，先行动起来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5800" y="490537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481965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需要用复盘和资源协同提升上限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Fighter / Runner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冲刺型 Runner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在明确目标下快速行动、快速反馈、快速拿结果。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677400" y="685800"/>
            <a:ext cx="838200" cy="838200"/>
          </a:xfrm>
          <a:prstGeom prst="ellipse">
            <a:avLst/>
          </a:prstGeom>
          <a:solidFill>
            <a:srgbClr val="F97316">
              <a:alpha val="13333"/>
            </a:srgbClr>
          </a:solidFill>
          <a:ln w="13335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2096" y="920496"/>
            <a:ext cx="368808" cy="368808"/>
          </a:xfrm>
          <a:prstGeom prst="rect">
            <a:avLst/>
          </a:prstGeom>
        </p:spPr>
      </p:pic>
      <p:sp>
        <p:nvSpPr>
          <p:cNvPr id="11" name="圆角矩形 10"/>
          <p:cNvSpPr>
            <a:spLocks noGrp="1"/>
          </p:cNvSpPr>
          <p:nvPr/>
        </p:nvSpPr>
        <p:spPr>
          <a:xfrm>
            <a:off x="6858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F97316">
              <a:alpha val="13333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快启动</a:t>
            </a:r>
            <a:endParaRPr sz="9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9050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F97316">
              <a:alpha val="13333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193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强执行</a:t>
            </a:r>
            <a:endParaRPr sz="9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242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F97316">
              <a:alpha val="13333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短周期</a:t>
            </a:r>
            <a:endParaRPr sz="9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434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F97316">
              <a:alpha val="13333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结果牵引</a:t>
            </a:r>
            <a:endParaRPr sz="9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典型优势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9144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858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能把机会窗口快速转成动作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144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适合冲业绩、打活动、做转化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9144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能带动团队从讨论进入行动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2672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958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可能短板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44958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容易重速度、轻复盘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44958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6672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方向变化频繁时会消耗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44958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672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对慢节奏协同耐心不足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848600" y="2571750"/>
            <a:ext cx="365760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适合场景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77200" y="3219450"/>
            <a:ext cx="304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销售冲刺、市场活动、增长实验、BD 拓展、短期项目推进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77200" y="41719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成长提醒</a:t>
            </a:r>
            <a:endParaRPr sz="13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77200" y="4457700"/>
            <a:ext cx="304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把每次冲刺沉淀成可复制打法：复盘、节奏管理、关键动作清单。</a:t>
            </a:r>
            <a:endParaRPr sz="116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Fighter / Climber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攻坚型 Climber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面对困难不退，能在阻力中持续推进、拿下硬仗。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677400" y="685800"/>
            <a:ext cx="838200" cy="838200"/>
          </a:xfrm>
          <a:prstGeom prst="ellipse">
            <a:avLst/>
          </a:prstGeom>
          <a:solidFill>
            <a:srgbClr val="EF4444">
              <a:alpha val="13333"/>
            </a:srgbClr>
          </a:solidFill>
          <a:ln w="13335">
            <a:solidFill>
              <a:srgbClr val="EF4444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2096" y="920496"/>
            <a:ext cx="368808" cy="368808"/>
          </a:xfrm>
          <a:prstGeom prst="rect">
            <a:avLst/>
          </a:prstGeom>
        </p:spPr>
      </p:pic>
      <p:sp>
        <p:nvSpPr>
          <p:cNvPr id="11" name="圆角矩形 10"/>
          <p:cNvSpPr>
            <a:spLocks noGrp="1"/>
          </p:cNvSpPr>
          <p:nvPr/>
        </p:nvSpPr>
        <p:spPr>
          <a:xfrm>
            <a:off x="6858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EF4444">
              <a:alpha val="13333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高韧性</a:t>
            </a:r>
            <a:endParaRPr sz="975" b="1">
              <a:solidFill>
                <a:srgbClr val="EF44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9050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EF4444">
              <a:alpha val="13333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193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抗压力</a:t>
            </a:r>
            <a:endParaRPr sz="975" b="1">
              <a:solidFill>
                <a:srgbClr val="EF44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242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EF4444">
              <a:alpha val="13333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破难题</a:t>
            </a:r>
            <a:endParaRPr sz="975" b="1">
              <a:solidFill>
                <a:srgbClr val="EF44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434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EF4444">
              <a:alpha val="13333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敢承担</a:t>
            </a:r>
            <a:endParaRPr sz="975" b="1">
              <a:solidFill>
                <a:srgbClr val="EF44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EF4444">
                <a:alpha val="33333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典型优势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9144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858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适合关键客户、复杂谈判和瓶颈突破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144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能在局面卡住时顶上去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9144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面对失败更容易被激发斗志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2672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EF4444">
                <a:alpha val="33333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958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可能短板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44958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可能过度硬扛、忽略借力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44958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6672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长期高压容易透支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44958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672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对低挑战任务兴趣不足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848600" y="2571750"/>
            <a:ext cx="365760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EF4444">
                <a:alpha val="33333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适合场景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77200" y="3219450"/>
            <a:ext cx="304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大客户销售、关键项目、危机处理、变革推进、复杂商务谈判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77200" y="41719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F44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成长提醒</a:t>
            </a:r>
            <a:endParaRPr sz="1350" b="1">
              <a:solidFill>
                <a:srgbClr val="EF44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77200" y="4457700"/>
            <a:ext cx="304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从个人硬冲升级为资源整合：拆路径、拉盟友、分阶段攻克。</a:t>
            </a:r>
            <a:endParaRPr sz="116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ATTRIBUTE 02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思辨者 Thinker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用认知改变结果的人：分析、结构、洞察、创造、系统。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05900" y="762000"/>
            <a:ext cx="914400" cy="914400"/>
          </a:xfrm>
          <a:prstGeom prst="ellipse">
            <a:avLst/>
          </a:prstGeom>
          <a:solidFill>
            <a:srgbClr val="60A5FA">
              <a:alpha val="13333"/>
            </a:srgbClr>
          </a:solidFill>
          <a:ln w="13335">
            <a:solidFill>
              <a:srgbClr val="60A5FA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1932" y="1018032"/>
            <a:ext cx="402336" cy="402336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66750" y="2000250"/>
            <a:ext cx="4953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组织的认知力</a:t>
            </a:r>
            <a:endParaRPr sz="2325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781300"/>
            <a:ext cx="5619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他们关注问题背后的逻辑和规律，依靠判断、建模、设计和创造产生价值。</a:t>
            </a:r>
            <a:endParaRPr sz="15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762750" y="2476500"/>
            <a:ext cx="1524000" cy="200025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53250" y="27241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分析型</a:t>
            </a:r>
            <a:endParaRPr sz="17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53250" y="3076575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Analyzer</a:t>
            </a:r>
            <a:endParaRPr sz="1275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53250" y="3562350"/>
            <a:ext cx="1143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能从复杂信息中找到规律、根因和更可靠的判断。</a:t>
            </a:r>
            <a:endParaRPr sz="112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477250" y="2476500"/>
            <a:ext cx="1524000" cy="200025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9525">
            <a:solidFill>
              <a:srgbClr val="8B5CF6">
                <a:alpha val="33333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67750" y="27241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创构型</a:t>
            </a:r>
            <a:endParaRPr sz="17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3076575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Builder</a:t>
            </a:r>
            <a:endParaRPr sz="1275" b="1">
              <a:solidFill>
                <a:srgbClr val="8B5CF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3562350"/>
            <a:ext cx="1143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把想法搭成可运转的产品、系统、机制或方法论。</a:t>
            </a:r>
            <a:endParaRPr sz="112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85800" y="425767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417195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把复杂问题变清楚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85800" y="4581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449580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把一次经验变成方法和系统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5800" y="490537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481965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需要用真实业务反馈校准思考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Thinker / Analyzer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分析型 Analyzer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关注问题</a:t>
            </a:r>
            <a:r>
              <a:rPr lang="en-US" altLang="zh-CN"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能从复杂信息中找到规律、根因和更可靠的判断。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677400" y="685800"/>
            <a:ext cx="838200" cy="838200"/>
          </a:xfrm>
          <a:prstGeom prst="ellipse">
            <a:avLst/>
          </a:prstGeom>
          <a:solidFill>
            <a:srgbClr val="60A5FA">
              <a:alpha val="13333"/>
            </a:srgbClr>
          </a:solidFill>
          <a:ln w="13335">
            <a:solidFill>
              <a:srgbClr val="60A5FA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2096" y="920496"/>
            <a:ext cx="368808" cy="368808"/>
          </a:xfrm>
          <a:prstGeom prst="rect">
            <a:avLst/>
          </a:prstGeom>
        </p:spPr>
      </p:pic>
      <p:sp>
        <p:nvSpPr>
          <p:cNvPr id="11" name="圆角矩形 10"/>
          <p:cNvSpPr>
            <a:spLocks noGrp="1"/>
          </p:cNvSpPr>
          <p:nvPr/>
        </p:nvSpPr>
        <p:spPr>
          <a:xfrm>
            <a:off x="6858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60A5FA">
              <a:alpha val="13333"/>
            </a:srgbClr>
          </a:solidFill>
          <a:ln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重证据</a:t>
            </a:r>
            <a:endParaRPr sz="975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9050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60A5FA">
              <a:alpha val="13333"/>
            </a:srgbClr>
          </a:solidFill>
          <a:ln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193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拆问题</a:t>
            </a:r>
            <a:endParaRPr sz="975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242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60A5FA">
              <a:alpha val="13333"/>
            </a:srgbClr>
          </a:solidFill>
          <a:ln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看根因</a:t>
            </a:r>
            <a:endParaRPr sz="975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434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60A5FA">
              <a:alpha val="13333"/>
            </a:srgbClr>
          </a:solidFill>
          <a:ln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控风险</a:t>
            </a:r>
            <a:endParaRPr sz="975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典型优势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9144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858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把混乱问题结构化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144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帮助组织少凭感觉决策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9144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能识别关键变量和优先级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2672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958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可能短板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44958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可能想得深但行动慢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44958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6672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过度追求确定性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44958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672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表达太理性时会显得不够共情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848600" y="2571750"/>
            <a:ext cx="365760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适合场景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77200" y="3219450"/>
            <a:ext cx="304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数据分析、经营分析、战略研究、产品策略、用户研究、流程诊断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77200" y="41719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60A5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成长提醒</a:t>
            </a:r>
            <a:endParaRPr sz="1350" b="1">
              <a:solidFill>
                <a:srgbClr val="60A5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77200" y="4457700"/>
            <a:ext cx="304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把分析变成决策建议：结论、依据、优先级、下一步动作。</a:t>
            </a:r>
            <a:endParaRPr sz="116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Thinker / Builder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创构型 Builder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关注系统</a:t>
            </a:r>
            <a:r>
              <a:rPr lang="en-US" altLang="zh-CN"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把想法搭成可运转的产品、系统、机制或方法论。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677400" y="685800"/>
            <a:ext cx="838200" cy="838200"/>
          </a:xfrm>
          <a:prstGeom prst="ellipse">
            <a:avLst/>
          </a:prstGeom>
          <a:solidFill>
            <a:srgbClr val="8B5CF6">
              <a:alpha val="13333"/>
            </a:srgbClr>
          </a:solidFill>
          <a:ln w="13335">
            <a:solidFill>
              <a:srgbClr val="8B5CF6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2096" y="920496"/>
            <a:ext cx="368808" cy="368808"/>
          </a:xfrm>
          <a:prstGeom prst="rect">
            <a:avLst/>
          </a:prstGeom>
        </p:spPr>
      </p:pic>
      <p:sp>
        <p:nvSpPr>
          <p:cNvPr id="11" name="圆角矩形 10"/>
          <p:cNvSpPr>
            <a:spLocks noGrp="1"/>
          </p:cNvSpPr>
          <p:nvPr/>
        </p:nvSpPr>
        <p:spPr>
          <a:xfrm>
            <a:off x="6858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8B5CF6">
              <a:alpha val="13333"/>
            </a:srgbClr>
          </a:solidFill>
          <a:ln w="9525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创造力</a:t>
            </a:r>
            <a:endParaRPr sz="975" b="1">
              <a:solidFill>
                <a:srgbClr val="8B5CF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9050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8B5CF6">
              <a:alpha val="13333"/>
            </a:srgbClr>
          </a:solidFill>
          <a:ln w="9525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193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架构感</a:t>
            </a:r>
            <a:endParaRPr sz="975" b="1">
              <a:solidFill>
                <a:srgbClr val="8B5CF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242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8B5CF6">
              <a:alpha val="13333"/>
            </a:srgbClr>
          </a:solidFill>
          <a:ln w="9525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可复用</a:t>
            </a:r>
            <a:endParaRPr sz="975" b="1">
              <a:solidFill>
                <a:srgbClr val="8B5CF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434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8B5CF6">
              <a:alpha val="13333"/>
            </a:srgbClr>
          </a:solidFill>
          <a:ln w="9525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系统化</a:t>
            </a:r>
            <a:endParaRPr sz="975" b="1">
              <a:solidFill>
                <a:srgbClr val="8B5CF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8B5CF6">
                <a:alpha val="33333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典型优势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9144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858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能从零到一搭东西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144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把经验沉淀为系统能力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9144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关注扩展性和长期效率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2672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8B5CF6">
                <a:alpha val="33333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958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可能短板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44958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可能过度理想化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44958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6672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容易忽略当前资源和落地成本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44958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672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对重复执行兴趣不足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848600" y="2571750"/>
            <a:ext cx="365760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8B5CF6">
                <a:alpha val="33333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适合场景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77200" y="3219450"/>
            <a:ext cx="304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产品、研发、业务中台、运营体系、知识库、培训体系、组织机制设计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77200" y="41719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8B5CF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成长提醒</a:t>
            </a:r>
            <a:endParaRPr sz="1350" b="1">
              <a:solidFill>
                <a:srgbClr val="8B5CF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77200" y="4457700"/>
            <a:ext cx="304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持续贴近真实用户和业务现场，让设计被使用、被验证、被迭代。</a:t>
            </a:r>
            <a:endParaRPr sz="116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ATTRIBUTE 03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赋能者 Helper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让人和系统更好运转的人：连接、支持、协调、稳定、成长。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105900" y="762000"/>
            <a:ext cx="914400" cy="914400"/>
          </a:xfrm>
          <a:prstGeom prst="ellipse">
            <a:avLst/>
          </a:prstGeom>
          <a:solidFill>
            <a:srgbClr val="22C55E">
              <a:alpha val="13333"/>
            </a:srgbClr>
          </a:solidFill>
          <a:ln w="1333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1932" y="1018032"/>
            <a:ext cx="402336" cy="402336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66750" y="2000250"/>
            <a:ext cx="49530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组织的协同力</a:t>
            </a:r>
            <a:endParaRPr sz="2325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781300"/>
            <a:ext cx="5619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他们的价值不只体现在个人产出上，更体现在帮助他人变强、让团队更稳、让组织更顺畅。</a:t>
            </a:r>
            <a:endParaRPr sz="15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762750" y="2476500"/>
            <a:ext cx="1524000" cy="200025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53250" y="27241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人际型</a:t>
            </a:r>
            <a:endParaRPr sz="17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53250" y="3076575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Socializer</a:t>
            </a:r>
            <a:endParaRPr sz="1275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53250" y="3562350"/>
            <a:ext cx="1143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理解人、连接人、激发人，让团队更愿意一起完成事情。</a:t>
            </a:r>
            <a:endParaRPr sz="112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477250" y="2476500"/>
            <a:ext cx="1524000" cy="200025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9525">
            <a:solidFill>
              <a:srgbClr val="14B8A6">
                <a:alpha val="33333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67750" y="27241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流程型</a:t>
            </a:r>
            <a:endParaRPr sz="17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3076575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Keeper</a:t>
            </a:r>
            <a:endParaRPr sz="1275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3562350"/>
            <a:ext cx="1143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维护秩序、流程和细节，让组织稳定、可靠、长期运转。</a:t>
            </a:r>
            <a:endParaRPr sz="112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85800" y="425767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417195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让人愿意一起完成事情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85800" y="4581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449580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把协作从靠感觉变成靠机制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5800" y="490537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4819650"/>
            <a:ext cx="478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需要边界感和业务目标牵引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Helper / Socializer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人际型 Socializer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理解人、连接人、激发人，让团队更愿意一起完成事情。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677400" y="685800"/>
            <a:ext cx="838200" cy="838200"/>
          </a:xfrm>
          <a:prstGeom prst="ellipse">
            <a:avLst/>
          </a:prstGeom>
          <a:solidFill>
            <a:srgbClr val="22C55E">
              <a:alpha val="13333"/>
            </a:srgbClr>
          </a:solidFill>
          <a:ln w="1333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2096" y="920496"/>
            <a:ext cx="368808" cy="368808"/>
          </a:xfrm>
          <a:prstGeom prst="rect">
            <a:avLst/>
          </a:prstGeom>
        </p:spPr>
      </p:pic>
      <p:sp>
        <p:nvSpPr>
          <p:cNvPr id="11" name="圆角矩形 10"/>
          <p:cNvSpPr>
            <a:spLocks noGrp="1"/>
          </p:cNvSpPr>
          <p:nvPr/>
        </p:nvSpPr>
        <p:spPr>
          <a:xfrm>
            <a:off x="6858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22C55E">
              <a:alpha val="13333"/>
            </a:srgbClr>
          </a:solidFill>
          <a:ln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共情力</a:t>
            </a:r>
            <a:endParaRPr sz="975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9050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22C55E">
              <a:alpha val="13333"/>
            </a:srgbClr>
          </a:solidFill>
          <a:ln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193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信任感</a:t>
            </a:r>
            <a:endParaRPr sz="975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242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22C55E">
              <a:alpha val="13333"/>
            </a:srgbClr>
          </a:solidFill>
          <a:ln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会沟通</a:t>
            </a:r>
            <a:endParaRPr sz="975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434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22C55E">
              <a:alpha val="13333"/>
            </a:srgbClr>
          </a:solidFill>
          <a:ln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促协作</a:t>
            </a:r>
            <a:endParaRPr sz="975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典型优势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9144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858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发现数据和流程看不到的人际问题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144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协调冲突、恢复团队连接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9144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能营造安全感和投入感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2672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958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可能短板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44958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可能过度照顾感受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44958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6672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强冲突场景不够果断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44958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672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承担过多情绪劳动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848600" y="2571750"/>
            <a:ext cx="365760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适合场景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77200" y="3219450"/>
            <a:ext cx="304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HRBP、培训、教练、员工关系、客户成功、文化建设、跨部门协调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77200" y="41719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2C5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成长提醒</a:t>
            </a:r>
            <a:endParaRPr sz="1350" b="1">
              <a:solidFill>
                <a:srgbClr val="22C5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77200" y="4457700"/>
            <a:ext cx="304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建立边界和结果意识：不是无限满足，而是帮助他人更成熟。</a:t>
            </a:r>
            <a:endParaRPr sz="116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Helper / Keeper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流程型 Keeper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维护秩序、流程和细节，让组织稳定、可靠、长期运转。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9677400" y="685800"/>
            <a:ext cx="838200" cy="838200"/>
          </a:xfrm>
          <a:prstGeom prst="ellipse">
            <a:avLst/>
          </a:prstGeom>
          <a:solidFill>
            <a:srgbClr val="14B8A6">
              <a:alpha val="13333"/>
            </a:srgbClr>
          </a:solidFill>
          <a:ln w="13335">
            <a:solidFill>
              <a:srgbClr val="14B8A6">
                <a:alpha val="40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2096" y="920496"/>
            <a:ext cx="368808" cy="368808"/>
          </a:xfrm>
          <a:prstGeom prst="rect">
            <a:avLst/>
          </a:prstGeom>
        </p:spPr>
      </p:pic>
      <p:sp>
        <p:nvSpPr>
          <p:cNvPr id="11" name="圆角矩形 10"/>
          <p:cNvSpPr>
            <a:spLocks noGrp="1"/>
          </p:cNvSpPr>
          <p:nvPr/>
        </p:nvSpPr>
        <p:spPr>
          <a:xfrm>
            <a:off x="6858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14B8A6">
              <a:alpha val="13333"/>
            </a:srgbClr>
          </a:solidFill>
          <a:ln w="9525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稳定性</a:t>
            </a:r>
            <a:endParaRPr sz="975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9050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14B8A6">
              <a:alpha val="13333"/>
            </a:srgbClr>
          </a:solidFill>
          <a:ln w="9525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193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标准化</a:t>
            </a:r>
            <a:endParaRPr sz="975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242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14B8A6">
              <a:alpha val="13333"/>
            </a:srgbClr>
          </a:solidFill>
          <a:ln w="9525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细致度</a:t>
            </a:r>
            <a:endParaRPr sz="975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343400" y="1924050"/>
            <a:ext cx="990600" cy="323850"/>
          </a:xfrm>
          <a:prstGeom prst="roundRect">
            <a:avLst>
              <a:gd name="adj" fmla="val 23529"/>
            </a:avLst>
          </a:prstGeom>
          <a:solidFill>
            <a:srgbClr val="14B8A6">
              <a:alpha val="13333"/>
            </a:srgbClr>
          </a:solidFill>
          <a:ln w="9525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199072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可持续</a:t>
            </a:r>
            <a:endParaRPr sz="975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14B8A6">
                <a:alpha val="33333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典型优势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9144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858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发现流程漏洞并补上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144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858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保障交付质量和节奏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9144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让协作从靠人变成靠机制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267200" y="2571750"/>
            <a:ext cx="314325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14B8A6">
                <a:alpha val="33333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958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可能短板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4495800" y="33623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67250" y="32766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可能灵活性不足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4495800" y="37814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667250" y="36957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面对模糊变化会不适应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4495800" y="4200525"/>
            <a:ext cx="57150" cy="57150"/>
          </a:xfrm>
          <a:prstGeom prst="ellipse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67250" y="41148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流程若脱离目标会变成负担</a:t>
            </a:r>
            <a:endParaRPr sz="120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848600" y="2571750"/>
            <a:ext cx="3657600" cy="2343150"/>
          </a:xfrm>
          <a:prstGeom prst="roundRect">
            <a:avLst>
              <a:gd name="adj" fmla="val 3252"/>
            </a:avLst>
          </a:prstGeom>
          <a:solidFill>
            <a:srgbClr val="172033"/>
          </a:solidFill>
          <a:ln w="9525">
            <a:solidFill>
              <a:srgbClr val="14B8A6">
                <a:alpha val="33333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28003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适合场景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77200" y="3219450"/>
            <a:ext cx="304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项目管理、流程运营、人事运营、财务、行政、质量管理、合规、交付管理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77200" y="41719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成长提醒</a:t>
            </a:r>
            <a:endParaRPr sz="1350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77200" y="4457700"/>
            <a:ext cx="304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理解流程背后的业务目的：减少混乱、提升效率、保障结果。</a:t>
            </a:r>
            <a:endParaRPr sz="116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COLLABORATION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最强团队不是同类相加，而是三种能力互补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Fighter 打开战场，Thinker 判断方向，Helper 托住团队和系统。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428750" y="300990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638300" y="3314700"/>
            <a:ext cx="552450" cy="552450"/>
          </a:xfrm>
          <a:prstGeom prst="ellipse">
            <a:avLst/>
          </a:prstGeom>
          <a:solidFill>
            <a:srgbClr val="F97316">
              <a:alpha val="13333"/>
            </a:srgbClr>
          </a:solidFill>
          <a:ln w="13335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2986" y="3469386"/>
            <a:ext cx="243078" cy="243078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2324100" y="33147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Fighter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24100" y="36766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把目标打出去</a:t>
            </a:r>
            <a:endParaRPr sz="12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238750" y="194310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5448300" y="2247900"/>
            <a:ext cx="552450" cy="552450"/>
          </a:xfrm>
          <a:prstGeom prst="ellipse">
            <a:avLst/>
          </a:prstGeom>
          <a:solidFill>
            <a:srgbClr val="60A5FA">
              <a:alpha val="13333"/>
            </a:srgbClr>
          </a:solidFill>
          <a:ln w="13335">
            <a:solidFill>
              <a:srgbClr val="60A5FA">
                <a:alpha val="40000"/>
              </a:srgbClr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2986" y="2402586"/>
            <a:ext cx="243078" cy="243078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6134100" y="224790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Thinker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34100" y="26098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把问题想清楚</a:t>
            </a:r>
            <a:endParaRPr sz="12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096250" y="37528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8305800" y="4057650"/>
            <a:ext cx="552450" cy="552450"/>
          </a:xfrm>
          <a:prstGeom prst="ellipse">
            <a:avLst/>
          </a:prstGeom>
          <a:solidFill>
            <a:srgbClr val="22C55E">
              <a:alpha val="13333"/>
            </a:srgbClr>
          </a:solidFill>
          <a:ln w="1333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0486" y="4212336"/>
            <a:ext cx="243078" cy="243078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8991600" y="40576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Helper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91600" y="441960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让团队跑得久</a:t>
            </a:r>
            <a:endParaRPr sz="12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762375" y="3590925"/>
            <a:ext cx="1333500" cy="1905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505575" y="3209925"/>
            <a:ext cx="1333500" cy="1905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905000" y="5429250"/>
            <a:ext cx="781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攻击力 + 认知力 + 协同力 = 既能打、又能想、还能长期运转</a:t>
            </a:r>
            <a:endParaRPr sz="187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58000">
                <a:srgbClr val="0B1220"/>
              </a:gs>
              <a:gs pos="100000">
                <a:srgbClr val="141B2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191250"/>
            <a:ext cx="108585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10900" y="61912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57200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PLAYBOOK</a:t>
            </a:r>
            <a:endParaRPr sz="1125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781050"/>
            <a:ext cx="857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6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如何在组织里使用这套模型</a:t>
            </a:r>
            <a:endParaRPr sz="26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362075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把它用于自我理解、岗位匹配、团队配置和成长对话。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14400" y="2190750"/>
            <a:ext cx="9620250" cy="91440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9525">
            <a:solidFill>
              <a:srgbClr val="60A5FA">
                <a:alpha val="33333"/>
              </a:srgbClr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219200" y="2400300"/>
            <a:ext cx="495300" cy="495300"/>
          </a:xfrm>
          <a:prstGeom prst="ellipse">
            <a:avLst/>
          </a:prstGeom>
          <a:solidFill>
            <a:srgbClr val="60A5FA">
              <a:alpha val="13333"/>
            </a:srgbClr>
          </a:solidFill>
          <a:ln w="13335">
            <a:solidFill>
              <a:srgbClr val="60A5FA">
                <a:alpha val="4000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7884" y="2538984"/>
            <a:ext cx="217932" cy="217932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981200" y="242887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员工个人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57600" y="2428875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我最自然的优势是什么？在哪些场景最容易发挥价值？下一阶段要补哪种能力？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914400" y="3429000"/>
            <a:ext cx="9620250" cy="91440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9525">
            <a:solidFill>
              <a:srgbClr val="F97316">
                <a:alpha val="33333"/>
              </a:srgbClr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219200" y="3638550"/>
            <a:ext cx="495300" cy="495300"/>
          </a:xfrm>
          <a:prstGeom prst="ellipse">
            <a:avLst/>
          </a:prstGeom>
          <a:solidFill>
            <a:srgbClr val="F97316">
              <a:alpha val="13333"/>
            </a:srgbClr>
          </a:solidFill>
          <a:ln w="13335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7884" y="3777234"/>
            <a:ext cx="217932" cy="217932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1981200" y="366712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管理者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57600" y="3667125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把合适的人放到合适的位置，用不同方式激励不同类型的人。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14400" y="4667250"/>
            <a:ext cx="9620250" cy="91440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1219200" y="4876800"/>
            <a:ext cx="495300" cy="495300"/>
          </a:xfrm>
          <a:prstGeom prst="ellipse">
            <a:avLst/>
          </a:prstGeom>
          <a:solidFill>
            <a:srgbClr val="22C55E">
              <a:alpha val="13333"/>
            </a:srgbClr>
          </a:solidFill>
          <a:ln w="13335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7884" y="5015484"/>
            <a:ext cx="217932" cy="217932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1981200" y="490537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团队协作</a:t>
            </a:r>
            <a:endParaRPr sz="16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657600" y="4905375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项目启动时先看三种能力是否齐备：有人冲、有人想、有人托住。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4400" y="57721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识别优势，理解差异，优化协作，设计成长路径。</a:t>
            </a:r>
            <a:endParaRPr sz="187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2669</Words>
  <Application>WPS 演示</Application>
  <PresentationFormat>Converted Presentation</PresentationFormat>
  <Paragraphs>482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陈盼</cp:lastModifiedBy>
  <cp:revision>1</cp:revision>
  <dcterms:created xsi:type="dcterms:W3CDTF">2026-06-10T08:45:36Z</dcterms:created>
  <dcterms:modified xsi:type="dcterms:W3CDTF">2026-06-10T08:45:36Z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633AA67B265237CE3024296A4C829C49_42</vt:lpwstr>
  </property>
  <property fmtid="{D5CDD505-2E9C-101B-9397-08002B2CF9AE}" pid="3" name="KSOProductBuildVer">
    <vt:lpwstr>2052-12.1.25895.25895</vt:lpwstr>
  </property>
</Properties>
</file>