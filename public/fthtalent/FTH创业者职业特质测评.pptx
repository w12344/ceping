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75ef992764a84" /><Relationship Type="http://schemas.openxmlformats.org/officeDocument/2006/relationships/extended-properties" Target="/docProps/app.xml" Id="Rd2babaef3bb94197" /><Relationship Type="http://schemas.openxmlformats.org/officeDocument/2006/relationships/officeDocument" Target="/ppt/presentation.xml" Id="R56485c78afd44b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14daeb3ec24d36"/>
  </p:sldMasterIdLst>
  <p:notesMasterIdLst>
    <p:notesMasterId xmlns:r="http://schemas.openxmlformats.org/officeDocument/2006/relationships" r:id="R2985f9eab1de4853"/>
  </p:notesMasterIdLst>
  <p:sldIdLst>
    <p:sldId xmlns:r="http://schemas.openxmlformats.org/officeDocument/2006/relationships" id="256" r:id="R53809ffe4d7242da"/>
    <p:sldId xmlns:r="http://schemas.openxmlformats.org/officeDocument/2006/relationships" id="257" r:id="R156a449c318c4eec"/>
    <p:sldId xmlns:r="http://schemas.openxmlformats.org/officeDocument/2006/relationships" id="258" r:id="Rc945490d7a284ae7"/>
    <p:sldId xmlns:r="http://schemas.openxmlformats.org/officeDocument/2006/relationships" id="259" r:id="R4215f22d5e5e4816"/>
    <p:sldId xmlns:r="http://schemas.openxmlformats.org/officeDocument/2006/relationships" id="260" r:id="Rde04d68dc95f428f"/>
    <p:sldId xmlns:r="http://schemas.openxmlformats.org/officeDocument/2006/relationships" id="261" r:id="R7b9f2a42d1dd455a"/>
    <p:sldId xmlns:r="http://schemas.openxmlformats.org/officeDocument/2006/relationships" id="262" r:id="Rb6c77435664b4cc0"/>
    <p:sldId xmlns:r="http://schemas.openxmlformats.org/officeDocument/2006/relationships" id="263" r:id="R2fb4f1745b8d4af4"/>
    <p:sldId xmlns:r="http://schemas.openxmlformats.org/officeDocument/2006/relationships" id="264" r:id="R1acbfb8afeb14556"/>
    <p:sldId xmlns:r="http://schemas.openxmlformats.org/officeDocument/2006/relationships" id="265" r:id="R1a921c61249e4035"/>
    <p:sldId xmlns:r="http://schemas.openxmlformats.org/officeDocument/2006/relationships" id="266" r:id="R3cf13784a7be4e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6959cfd806426d" /><Relationship Type="http://schemas.openxmlformats.org/officeDocument/2006/relationships/slideMaster" Target="/ppt/slideMasters/slideMaster1.xml" Id="R0614daeb3ec24d36" /><Relationship Type="http://schemas.openxmlformats.org/officeDocument/2006/relationships/notesMaster" Target="/ppt/notesMasters/notesMaster1.xml" Id="R2985f9eab1de4853" /><Relationship Type="http://schemas.openxmlformats.org/officeDocument/2006/relationships/presProps" Target="/ppt/presProps.xml" Id="R187480e8294f4b76" /><Relationship Type="http://schemas.openxmlformats.org/officeDocument/2006/relationships/tableStyles" Target="/ppt/tableStyles.xml" Id="R1ce7bccc380849e1" /><Relationship Type="http://schemas.openxmlformats.org/officeDocument/2006/relationships/slide" Target="/ppt/slides/slide1.xml" Id="R53809ffe4d7242da" /><Relationship Type="http://schemas.openxmlformats.org/officeDocument/2006/relationships/slide" Target="/ppt/slides/slide2.xml" Id="R156a449c318c4eec" /><Relationship Type="http://schemas.openxmlformats.org/officeDocument/2006/relationships/slide" Target="/ppt/slides/slide3.xml" Id="Rc945490d7a284ae7" /><Relationship Type="http://schemas.openxmlformats.org/officeDocument/2006/relationships/slide" Target="/ppt/slides/slide4.xml" Id="R4215f22d5e5e4816" /><Relationship Type="http://schemas.openxmlformats.org/officeDocument/2006/relationships/slide" Target="/ppt/slides/slide5.xml" Id="Rde04d68dc95f428f" /><Relationship Type="http://schemas.openxmlformats.org/officeDocument/2006/relationships/slide" Target="/ppt/slides/slide6.xml" Id="R7b9f2a42d1dd455a" /><Relationship Type="http://schemas.openxmlformats.org/officeDocument/2006/relationships/slide" Target="/ppt/slides/slide7.xml" Id="Rb6c77435664b4cc0" /><Relationship Type="http://schemas.openxmlformats.org/officeDocument/2006/relationships/slide" Target="/ppt/slides/slide8.xml" Id="R2fb4f1745b8d4af4" /><Relationship Type="http://schemas.openxmlformats.org/officeDocument/2006/relationships/slide" Target="/ppt/slides/slide9.xml" Id="R1acbfb8afeb14556" /><Relationship Type="http://schemas.openxmlformats.org/officeDocument/2006/relationships/slide" Target="/ppt/slides/slide10.xml" Id="R1a921c61249e4035" /><Relationship Type="http://schemas.openxmlformats.org/officeDocument/2006/relationships/slide" Target="/ppt/slides/slide11.xml" Id="R3cf13784a7be4e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dc621cc5c45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613f8872754261" /><Relationship Type="http://schemas.openxmlformats.org/officeDocument/2006/relationships/notesMaster" Target="/ppt/notesMasters/notesMaster1.xml" Id="Rfae443cd71f249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b7238a565470d" /><Relationship Type="http://schemas.openxmlformats.org/officeDocument/2006/relationships/notesMaster" Target="/ppt/notesMasters/notesMaster1.xml" Id="R06ee469dad3340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33872c003d4eda" /><Relationship Type="http://schemas.openxmlformats.org/officeDocument/2006/relationships/notesMaster" Target="/ppt/notesMasters/notesMaster1.xml" Id="Rf0691eeb1b064b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88c6d9abf34edc" /><Relationship Type="http://schemas.openxmlformats.org/officeDocument/2006/relationships/notesMaster" Target="/ppt/notesMasters/notesMaster1.xml" Id="Rfc2382ac080249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5f73ef2b274783" /><Relationship Type="http://schemas.openxmlformats.org/officeDocument/2006/relationships/notesMaster" Target="/ppt/notesMasters/notesMaster1.xml" Id="R8b2ed8ddb33846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ccf22c209441d1" /><Relationship Type="http://schemas.openxmlformats.org/officeDocument/2006/relationships/notesMaster" Target="/ppt/notesMasters/notesMaster1.xml" Id="Rf025cecf81d144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ecb7b4df9b4b9f" /><Relationship Type="http://schemas.openxmlformats.org/officeDocument/2006/relationships/notesMaster" Target="/ppt/notesMasters/notesMaster1.xml" Id="R5e5f1adf925c47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a0ae990d3143cf" /><Relationship Type="http://schemas.openxmlformats.org/officeDocument/2006/relationships/notesMaster" Target="/ppt/notesMasters/notesMaster1.xml" Id="R99995a42e2d547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17203045264f45" /><Relationship Type="http://schemas.openxmlformats.org/officeDocument/2006/relationships/notesMaster" Target="/ppt/notesMasters/notesMaster1.xml" Id="Rad0dbc66f93e48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d00ff34c064075" /><Relationship Type="http://schemas.openxmlformats.org/officeDocument/2006/relationships/notesMaster" Target="/ppt/notesMasters/notesMaster1.xml" Id="R5ec9679ebeee46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373caf656a4284" /><Relationship Type="http://schemas.openxmlformats.org/officeDocument/2006/relationships/notesMaster" Target="/ppt/notesMasters/notesMaster1.xml" Id="R316f71a0006f4e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6d0f05e7242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5e2a302d5e41e2" /><Relationship Type="http://schemas.openxmlformats.org/officeDocument/2006/relationships/slideLayout" Target="/ppt/slideLayouts/slideLayout1.xml" Id="R8c68dff0854349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68dff0854349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758dfddbf4d3d" /><Relationship Type="http://schemas.openxmlformats.org/officeDocument/2006/relationships/notesSlide" Target="/ppt/notesSlides/notesSlide1.xml" Id="R65a4ce7f550045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7e2b67d404496" /><Relationship Type="http://schemas.openxmlformats.org/officeDocument/2006/relationships/notesSlide" Target="/ppt/notesSlides/notesSlide2.xml" Id="Rc05452e6687f47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3fe2d87b44690" /><Relationship Type="http://schemas.openxmlformats.org/officeDocument/2006/relationships/notesSlide" Target="/ppt/notesSlides/notesSlide3.xml" Id="R3edcc08ec01f42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afd362ca0437a" /><Relationship Type="http://schemas.openxmlformats.org/officeDocument/2006/relationships/notesSlide" Target="/ppt/notesSlides/notesSlide4.xml" Id="Rf7136da81c0042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ee150595447c6" /><Relationship Type="http://schemas.openxmlformats.org/officeDocument/2006/relationships/notesSlide" Target="/ppt/notesSlides/notesSlide5.xml" Id="R32890db4046649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41310d1ee4f2d" /><Relationship Type="http://schemas.openxmlformats.org/officeDocument/2006/relationships/notesSlide" Target="/ppt/notesSlides/notesSlide6.xml" Id="Rc283d4c629aa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5de7579ad4ce5" /><Relationship Type="http://schemas.openxmlformats.org/officeDocument/2006/relationships/notesSlide" Target="/ppt/notesSlides/notesSlide7.xml" Id="R10f0217e9c4342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6badad8914d0d" /><Relationship Type="http://schemas.openxmlformats.org/officeDocument/2006/relationships/notesSlide" Target="/ppt/notesSlides/notesSlide8.xml" Id="R5d575411b4c845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87d010013463a" /><Relationship Type="http://schemas.openxmlformats.org/officeDocument/2006/relationships/notesSlide" Target="/ppt/notesSlides/notesSlide9.xml" Id="Rdc986871595d47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a2b3b0f05446a" /><Relationship Type="http://schemas.openxmlformats.org/officeDocument/2006/relationships/notesSlide" Target="/ppt/notesSlides/notesSlide10.xml" Id="Ra3d9fcd8d10343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b1f3c411143bf" /><Relationship Type="http://schemas.openxmlformats.org/officeDocument/2006/relationships/image" Target="/ppt/media/image.png" Id="Rcab746dfe7564b65" /><Relationship Type="http://schemas.openxmlformats.org/officeDocument/2006/relationships/notesSlide" Target="/ppt/notesSlides/notesSlide11.xml" Id="R7e70e064c66946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FCF3B0-CFF5-4C2E-83DF-5996E7F4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EE295-FA56-4ABF-8FFF-59FDE187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58561-2D66-42D0-B2AB-3AB9E9A2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>
              <a:alpha val="14118"/>
            </a:srgbClr>
          </a:solidFill>
          <a:ln xmlns:a="http://schemas.openxmlformats.org/drawingml/2006/main" w="19050">
            <a:solidFill>
              <a:srgbClr val="F97316">
                <a:alpha val="66667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6C6C4-DF1F-4894-B6A8-F9E72390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58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973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97316"/>
                </a:solidFill>
                <a:latin typeface="PingFang SC"/>
                <a:ea typeface="PingFang SC"/>
                <a:cs typeface="PingFang SC"/>
              </a:rPr>
              <a:t>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0AA97-AFA5-44C6-81B3-AE9493AC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19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>
              <a:alpha val="14118"/>
            </a:srgbClr>
          </a:solidFill>
          <a:ln xmlns:a="http://schemas.openxmlformats.org/drawingml/2006/main" w="19050">
            <a:solidFill>
              <a:srgbClr val="60A5FA">
                <a:alpha val="6666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0C0E2-C5C0-4955-B42B-421FE875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858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0A5F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60A5FA"/>
                </a:solidFill>
                <a:latin typeface="PingFang SC"/>
                <a:ea typeface="PingFang SC"/>
                <a:cs typeface="PingFang SC"/>
              </a:rPr>
              <a:t>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9B5E1-AD6B-4390-8410-37C1EAEE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819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>
              <a:alpha val="14118"/>
            </a:srgbClr>
          </a:solidFill>
          <a:ln xmlns:a="http://schemas.openxmlformats.org/drawingml/2006/main" w="19050">
            <a:solidFill>
              <a:srgbClr val="22C55E">
                <a:alpha val="6666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BF2EC-0380-427B-8BC4-B0630E2F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8858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CFE4A-C663-4279-9EA9-EFF38AC5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FTH创业者职业特质测评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9D685-FC50-4541-80CA-075CEEFC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看见创始人的创业驱动力、决策方式与团队协作说明书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2F1CD-FFBB-473F-99A2-997D25BE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723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033B3-3CE9-4EFA-8BF2-078B5856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适合创始人分享 / 合伙人沟通 / 团队复盘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41851-152D-4D3C-BCBF-B488978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结果用于自我理解与协作沟通，不用于简单贴标签。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B2914-EA9F-4EA1-B6DD-CAB83F86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00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11211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03FC6-7974-48B9-BDB9-B8A5E7C4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33330-1799-4435-8D21-BD790A79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5C813-86BB-4A5A-AA34-47764C09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F8EB7-1780-4A41-A04A-6A02616F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FTH 创业者职业特质测评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753BE-FE24-4D4B-9711-2F16743C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FTH：三种创业底层驱动力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29CE8-BB0D-4730-A42A-E806CA00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0D353-B136-4918-A8AF-CA43484A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97316">
              <a:alpha val="9412"/>
            </a:srgbClr>
          </a:solidFill>
          <a:ln xmlns:a="http://schemas.openxmlformats.org/drawingml/2006/main"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9EFDB-B8D5-4D61-8636-BB48F233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97316"/>
                </a:solidFill>
                <a:latin typeface="PingFang SC"/>
                <a:ea typeface="PingFang SC"/>
                <a:cs typeface="PingFang SC"/>
              </a:rPr>
              <a:t>Fighter 进取者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D73AC-58C1-4F22-9904-762769D8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目标、进攻、破局、拿结果。</a:t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更适合市场开拓、关键客户、增长突破和逆境翻盘。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D2E02-544C-4C5F-A048-3B4FBFB8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60A5FA">
              <a:alpha val="9412"/>
            </a:srgbClr>
          </a:solidFill>
          <a:ln xmlns:a="http://schemas.openxmlformats.org/drawingml/2006/main"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993B3-8E30-47CA-953D-B013BB9F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098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0A5F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0A5FA"/>
                </a:solidFill>
                <a:latin typeface="PingFang SC"/>
                <a:ea typeface="PingFang SC"/>
                <a:cs typeface="PingFang SC"/>
              </a:rPr>
              <a:t>Thinker 思辨者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46000-70D2-40D2-8362-11380A0C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67000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判断、结构、产品、系统。</a:t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更适合战略选择、商业模式、产品架构和复杂决策。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B4503-C248-46F0-B9DF-F0A5A4E7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22C55E">
              <a:alpha val="9412"/>
            </a:srgbClr>
          </a:solidFill>
          <a:ln xmlns:a="http://schemas.openxmlformats.org/drawingml/2006/main"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88951-9648-499A-9BC0-ADFFA91A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Helper 赋能者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30A7D-31AC-4007-898D-1A52CAD6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连接、组织、文化、稳定。</a:t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更适合团队凝聚、客户关系、合伙人协同和长期经营。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AEB31-B5C7-44A6-BD39-380BDA70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三大特质不是三种人，而是每个创始人身上的三组能力配比。</a:t>
            </a:r>
          </a:p>
        </p:txBody>
      </p:sp>
    </p:spTree>
    <p:extLst>
      <p:ext uri="{BB962C8B-B14F-4D97-AF65-F5344CB8AC3E}">
        <p14:creationId xmlns:p14="http://schemas.microsoft.com/office/powerpoint/2010/main" val="1983580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74DE03-9F89-4985-AB0A-88144BF1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BA4CB-98DC-4B50-B252-CC690EDF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CB4A9-340C-438B-8331-6C488A1B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80E65-9AB4-437B-AEF1-8A25C8AD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三大特质之一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963D0-34DD-4EE3-93C4-1F58EB2A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Fighter 进取者：前线破局与增长推进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1928B-9E54-432B-922B-CDF41703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7E084-0B2F-460E-8AC7-4EBF0018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97316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97316"/>
                </a:solidFill>
                <a:latin typeface="PingFang SC"/>
                <a:ea typeface="PingFang SC"/>
                <a:cs typeface="PingFang SC"/>
              </a:rPr>
              <a:t>破局型能量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0D59C-CC6C-4FB9-B72E-0E817012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更适合把机会变成行动，把压力变成推进力，在不确定中抢出结果。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34FCA-B13D-42A4-9856-A8551123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05000"/>
            <a:ext cx="4381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97316">
              <a:alpha val="8627"/>
            </a:srgbClr>
          </a:solidFill>
          <a:ln xmlns:a="http://schemas.openxmlformats.org/drawingml/2006/main"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1371A-F11E-4BB3-81D7-7B3043D3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47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73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97316"/>
                </a:solidFill>
                <a:latin typeface="PingFang SC"/>
                <a:ea typeface="PingFang SC"/>
                <a:cs typeface="PingFang SC"/>
              </a:rPr>
              <a:t>适合场景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F4FAD-08B6-4A11-9801-D5F9884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4BE8A-951B-427E-B996-5D81964B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194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市场开拓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EC298-A8F9-45A3-A925-57F513C6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A57AD-4A02-4C96-9363-95D26E81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766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融资冲刺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0EFCC-075D-45FC-88FC-891AFB1B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7CD8E-499F-48E9-B340-3CBF221D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338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关键客户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46086-DB6D-40FF-B1C9-DDF0232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8C13A-B8E2-42B1-96F4-578DC5B2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1910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增长突破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E2655-A640-4BD0-82EE-660A2372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提醒：速度和强度是优势，但团队也需要节奏、复盘和组织承压能力。</a:t>
            </a:r>
          </a:p>
        </p:txBody>
      </p:sp>
    </p:spTree>
    <p:extLst>
      <p:ext uri="{BB962C8B-B14F-4D97-AF65-F5344CB8AC3E}">
        <p14:creationId xmlns:p14="http://schemas.microsoft.com/office/powerpoint/2010/main" val="1340305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57CDA-6751-48A0-ABFA-258470DB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218E8-6ED6-4DEC-86D5-4789D396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CB163-3395-4725-B461-06806190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B8963-FF26-468D-86D6-DD57B046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三大特质之一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8E02A-93F6-4053-8CCF-77364539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Thinker 思辨者：战略判断与系统设计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C0FA1-6F4C-4C6B-BF61-D03131ED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E7893-161A-4455-9439-35F3B709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0A5FA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60A5FA"/>
                </a:solidFill>
                <a:latin typeface="PingFang SC"/>
                <a:ea typeface="PingFang SC"/>
                <a:cs typeface="PingFang SC"/>
              </a:rPr>
              <a:t>架构型能量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A7BD7-9C4F-4D0B-AE0E-FDC6198D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更适合看清问题本质，搭建产品、机制和长期可复用的经营系统。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3EEFB-5007-4157-99A9-1785EE54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05000"/>
            <a:ext cx="4381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60A5FA">
              <a:alpha val="8627"/>
            </a:srgbClr>
          </a:solidFill>
          <a:ln xmlns:a="http://schemas.openxmlformats.org/drawingml/2006/main"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9290F-6B48-4427-8555-EA142C63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47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0A5F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60A5FA"/>
                </a:solidFill>
                <a:latin typeface="PingFang SC"/>
                <a:ea typeface="PingFang SC"/>
                <a:cs typeface="PingFang SC"/>
              </a:rPr>
              <a:t>适合场景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8C93C-B26F-4D53-9604-1FFEF906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07242-9C26-450A-9635-5BDA1B34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194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战略选择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6B356-7450-4D87-BE7D-8D7BCC48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2EF92-9ADF-45A8-8C34-1A7DA3CB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766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商业模式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47D6B-4945-49C7-B711-02BECF8F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0E7A8-85E4-4043-A998-30BB5BA7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338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产品架构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02DCD-83F5-4294-A057-E061718A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7644B-FB3B-4D7B-B742-17E7ADA5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1910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复杂决策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CA7A1-0A90-4FAD-8934-F7DCCB6C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提醒：判断和结构是优势，但也需要真实市场反馈和执行节奏。</a:t>
            </a:r>
          </a:p>
        </p:txBody>
      </p:sp>
    </p:spTree>
    <p:extLst>
      <p:ext uri="{BB962C8B-B14F-4D97-AF65-F5344CB8AC3E}">
        <p14:creationId xmlns:p14="http://schemas.microsoft.com/office/powerpoint/2010/main" val="560778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FC7DA-9B37-47A4-86FE-8F511B9A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BEC79-242D-4573-A16B-B7165D27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4AEE4-8E00-4831-B99B-431F2813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98B3D-A44A-4370-A46B-FE9B3585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三大特质之一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32ADE-6B05-45A1-AF2D-9A06AFED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Helper 赋能者：组织连接与长期经营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4B3B4-3670-4190-877B-CA306814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8E7E7-B618-44EA-9CBC-34C8E62F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组织型能量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C7108-E7EB-4588-9EDD-FA1FF0EC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更适合建立信任、凝聚团队、经营客户关系，让组织持续协作和成长。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D4B10-8BF5-49D9-89E7-95ED8BF9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05000"/>
            <a:ext cx="4381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22C55E">
              <a:alpha val="8627"/>
            </a:srgbClr>
          </a:solidFill>
          <a:ln xmlns:a="http://schemas.openxmlformats.org/drawingml/2006/main"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74EDC-421E-48B9-A093-CBC72CB5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47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适合场景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F0D5D-36E4-47DB-89D8-5AA98002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A696F-A342-4B67-8160-0F4DF91E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194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团队凝聚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39D94-CEA9-48F5-9D98-BF0F6E65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1E214-88A2-4165-A1F5-1016083A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766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客户关系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D747F-DC6E-4E34-A7E6-CD5FDD53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469FD-BCD5-40B2-BA83-D1FD503B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338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合伙人协同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129A9-97C5-40D8-94D9-C27FB716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313D2-C624-44AF-9495-41C98E4D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1910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文化建设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9E42F-1A9C-484D-B949-FC2A0572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提醒：关系和稳定是优势，但关键窗口也需要果断拍板和外部突破。</a:t>
            </a:r>
          </a:p>
        </p:txBody>
      </p:sp>
    </p:spTree>
    <p:extLst>
      <p:ext uri="{BB962C8B-B14F-4D97-AF65-F5344CB8AC3E}">
        <p14:creationId xmlns:p14="http://schemas.microsoft.com/office/powerpoint/2010/main" val="85540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A2C447-DEE5-46DD-A57B-BCF7BBD4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8AC03-52EE-4740-ADA1-31D74430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92B69-3E4A-4FEB-9A1F-AA0E3079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EB18E-C36F-44D8-B091-63557E19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FTH 创业者职业特质测评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3B44A-F533-4F81-A223-0257E02B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六大创业者分型：更具体的贡献模式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F3CD0-E2ED-4E08-8663-748E81FB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4EBDD-9C68-4505-9E4E-D0542533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97316">
              <a:alpha val="8627"/>
            </a:srgbClr>
          </a:solidFill>
          <a:ln xmlns:a="http://schemas.openxmlformats.org/drawingml/2006/main"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F4C43-4206-4FBF-83C4-6AA089E3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97316"/>
                </a:solidFill>
                <a:latin typeface="PingFang SC"/>
                <a:ea typeface="PingFang SC"/>
                <a:cs typeface="PingFang SC"/>
              </a:rPr>
              <a:t>冲刺型 Runner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CB5CA-CF4D-4E42-843A-0B9BA5E9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机会捕手 / 增长冲刺者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0C9A8-BD93-446C-899C-33AC61B4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4444">
              <a:alpha val="8627"/>
            </a:srgbClr>
          </a:solidFill>
          <a:ln xmlns:a="http://schemas.openxmlformats.org/drawingml/2006/main" w="9525">
            <a:solidFill>
              <a:srgbClr val="EF4444">
                <a:alpha val="3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22FEB-FF67-449D-A1D8-A8395445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44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F4444"/>
                </a:solidFill>
                <a:latin typeface="PingFang SC"/>
                <a:ea typeface="PingFang SC"/>
                <a:cs typeface="PingFang SC"/>
              </a:rPr>
              <a:t>攻坚型 Climber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87DC7-F22E-4C42-8445-B273FD92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硬仗型创始人 / 关键突破者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B82CC-604A-4D3C-98B1-F879A5B6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60A5FA">
              <a:alpha val="8627"/>
            </a:srgbClr>
          </a:solidFill>
          <a:ln xmlns:a="http://schemas.openxmlformats.org/drawingml/2006/main"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42FAE-F6EF-4BF6-9128-D9D7BA2E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0A5F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0A5FA"/>
                </a:solidFill>
                <a:latin typeface="PingFang SC"/>
                <a:ea typeface="PingFang SC"/>
                <a:cs typeface="PingFang SC"/>
              </a:rPr>
              <a:t>分析型 Analyzer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9C4B3-3619-44B0-96EC-C6CE2240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战略判断者 / 问题拆解者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3A323-4759-4EEC-A431-D88EF39C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8B5CF6">
              <a:alpha val="8627"/>
            </a:srgbClr>
          </a:solidFill>
          <a:ln xmlns:a="http://schemas.openxmlformats.org/drawingml/2006/main" w="9525">
            <a:solidFill>
              <a:srgbClr val="8B5CF6">
                <a:alpha val="3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69E08-CB81-4F1E-992E-ACDB7FF3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B5CF6"/>
                </a:solidFill>
                <a:latin typeface="PingFang SC"/>
                <a:ea typeface="PingFang SC"/>
                <a:cs typeface="PingFang SC"/>
              </a:rPr>
              <a:t>创构型 Builder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13DEA-5412-4E91-BDE7-766ED523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系统搭建者 / 产品机制设计者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106C1-5BE0-4A9A-B610-5EED2CC2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2C55E">
              <a:alpha val="8627"/>
            </a:srgbClr>
          </a:solidFill>
          <a:ln xmlns:a="http://schemas.openxmlformats.org/drawingml/2006/main"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9DA38-157A-4748-B580-4548175E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人际型 Socializer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B78A9-EF16-4C02-B5EC-51261703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关系经营者 / 组织凝聚者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C3DDD-6C5D-4C88-BBE1-46EECDB5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243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4B8A6">
              <a:alpha val="8627"/>
            </a:srgbClr>
          </a:solidFill>
          <a:ln xmlns:a="http://schemas.openxmlformats.org/drawingml/2006/main" w="9525">
            <a:solidFill>
              <a:srgbClr val="14B8A6">
                <a:alpha val="3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E0FA1-7F07-4059-A845-357788F1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B8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B8A6"/>
                </a:solidFill>
                <a:latin typeface="PingFang SC"/>
                <a:ea typeface="PingFang SC"/>
                <a:cs typeface="PingFang SC"/>
              </a:rPr>
              <a:t>流程型 Keeper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1E73A-6486-45EB-B44F-833F89D2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秩序守护者 / 稳定运营者</a:t>
            </a:r>
          </a:p>
        </p:txBody>
      </p:sp>
    </p:spTree>
    <p:extLst>
      <p:ext uri="{BB962C8B-B14F-4D97-AF65-F5344CB8AC3E}">
        <p14:creationId xmlns:p14="http://schemas.microsoft.com/office/powerpoint/2010/main" val="1128468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9AE678-4951-4DBB-9E60-A58B3A9E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CD871-2E02-4DAE-967D-6C205BBE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89830-C6BC-4BDA-A435-8DF33C6A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A2ABD-4789-4BC5-A9B1-45BDAFD3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FTH 创业者职业特质测评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2E78C-2B28-470A-A175-71392881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如何读懂测评结果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578FD-8EF4-492C-B71C-6C405AA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27C95-7116-4FE5-A748-144740BD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762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85880-AE23-4E18-8642-C038269A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02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13F5E-78F9-470A-B0D5-6CCE0327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09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三大特质排序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7C848-36DF-4293-9B81-4667B506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908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例如 FTH / TFH / HFT，代表创业中的主驱动力顺序。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576B1-F5E5-4139-B5EF-91FDBD16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81200"/>
            <a:ext cx="4762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61B58-05E6-46C5-8B8D-CC465439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02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E5119-3984-4F12-A90E-19A79CE4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09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当前创业倾向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0A79E-DB29-499F-8786-55F64184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908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先看三大特质，再看该特质内部更高的具体分型。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C0A4D-3D29-490F-BAB7-1C60608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4762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3901A-7509-4D0C-9C40-ADA5AC71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E7C76-7ADE-4BFE-8A97-0EE7EF4D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29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六大分型排名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2115D-FB90-47BD-83A0-90D36F0A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10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主分型、次分型、第三倾向共同构成你的创业者画像。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DD829-82C6-40E3-834A-E282E2E8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00450"/>
            <a:ext cx="4762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827">
              <a:alpha val="86667"/>
            </a:srgbClr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03437-56C1-4969-8E23-554D301F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95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36929-CF64-4259-907F-7EF290F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29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内核与外延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089F2-0184-4073-8D58-F23CBC0C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210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内核代表稳定显现，外延代表情境性、过渡性或潜在倾向。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F9139-830A-4CFD-9391-4A96ADA1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重点：结果要用于发展对话，而不是给创始人或团队贴固定标签。</a:t>
            </a:r>
          </a:p>
        </p:txBody>
      </p:sp>
    </p:spTree>
    <p:extLst>
      <p:ext uri="{BB962C8B-B14F-4D97-AF65-F5344CB8AC3E}">
        <p14:creationId xmlns:p14="http://schemas.microsoft.com/office/powerpoint/2010/main" val="954631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A13CFE-C8AC-4017-8F7A-E838D252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7E135-EBCA-4C85-8D65-8850F3E3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58097-E3B6-46AA-A8AA-B6ADBC2A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0D68E-4463-459B-B6FA-49BF2249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FTH 创业者职业特质测评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CA790-A59D-4F38-A6F4-7877BCD1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报告会给创始人什么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16186-4092-43FC-A7FD-731A368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015EB-DAAB-459D-B545-3B01A429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典型优势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704E6-B349-404B-ABEC-5FA992E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看见天然强项，以及最容易形成势能的场景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CA432-4D82-4F46-87E0-7E300279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0B7A6-5EAF-404E-ABDF-81E1C370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可能提醒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09AD6-1D13-4A58-9717-B7B36E7A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识别高压或失衡时容易出现的经营盲区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F0C85-98AE-4094-B4A7-4F59496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01EB9-2A3F-4311-B554-2985F482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适合行业 / 业务场景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4034F-56F9-4AC8-B625-61B2860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把特质翻译成更适合发挥的业务类型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7102C-A0F7-47A1-9F09-AE978DD4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9312C-7B15-4395-AE9C-F13600DE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团队使用说明书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357F3-3D3D-4616-8985-400270E8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告诉团队如何汇报、沟通、协同和补位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A1BAC-308E-4EA5-8BFC-BA5776E6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017B5-F7BD-43E8-BBA1-AADF0DC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适合搭档类型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7139A-8F9A-4A86-AD81-DDE3509D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339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识别最需要的合伙人、二把手或核心补位角色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0655F-27BD-47AB-9482-C9EAF510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22940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C3E7B-74BD-4412-9D48-6CA2A253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D4605-6756-4CD7-977B-4490D2C8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91400-F0E4-4177-BDA7-8D620809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AD1A5-B1A5-490E-A555-9ACF1DD8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FTH 创业者职业特质测评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985BF-EB08-457B-B6AB-C93F855B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团队使用说明书：把创始人优势用对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381D0-619E-489D-BD51-C24C93A7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054CA-68FB-4575-A524-385865BA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9525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D1E37-C247-4FB8-BBC7-C00478F3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如何汇报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72E6A-EEBD-495F-A5DC-EFB7DE83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686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先说结论、卡点和下一步。</a:t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不同特质的创始人关注点不同。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F698C-3E84-470C-BB21-D032131D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60A5FA">
              <a:alpha val="9412"/>
            </a:srgbClr>
          </a:solidFill>
          <a:ln xmlns:a="http://schemas.openxmlformats.org/drawingml/2006/main"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410B3-5480-4CCC-928E-E7B2A9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098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0A5F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0A5FA"/>
                </a:solidFill>
                <a:latin typeface="PingFang SC"/>
                <a:ea typeface="PingFang SC"/>
                <a:cs typeface="PingFang SC"/>
              </a:rPr>
              <a:t>如何决策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64E41-1F3A-47BE-9881-033A012B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67000"/>
            <a:ext cx="2686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F 看结果窗口，T 看逻辑结构，H 看人和协作影响。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BA9C5-C768-4D00-8906-4ED8424C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2C55E">
              <a:alpha val="9412"/>
            </a:srgbClr>
          </a:solidFill>
          <a:ln xmlns:a="http://schemas.openxmlformats.org/drawingml/2006/main"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16D59-B43C-4F8B-A9F3-C40203DB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如何补位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9DAE1-ED33-4FA6-8FB1-20E21CFD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2686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不要要求创始人全能。</a:t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让团队承担他不天然擅长的那一块。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3F2B0-5579-414F-82E6-BF87375D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好团队不是复制创始人，而是补足创始人。</a:t>
            </a:r>
          </a:p>
        </p:txBody>
      </p:sp>
    </p:spTree>
    <p:extLst>
      <p:ext uri="{BB962C8B-B14F-4D97-AF65-F5344CB8AC3E}">
        <p14:creationId xmlns:p14="http://schemas.microsoft.com/office/powerpoint/2010/main" val="12706976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3714B-9ED8-435B-BAAF-78C2E539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6144F-1016-44BC-BFE4-C935AE4D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27E3E-9DAD-461A-9259-97A26170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AFF1F-1304-4142-A984-31249E48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FTH 创业者职业特质测评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902BD-50D9-464B-9513-388FF9CD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适合搭档类型：创始人的最佳组合方式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CC037-21AB-4397-A3E6-A88774E7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D4193-8475-49DB-92A3-7D76860B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971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97316">
              <a:alpha val="8627"/>
            </a:srgbClr>
          </a:solidFill>
          <a:ln xmlns:a="http://schemas.openxmlformats.org/drawingml/2006/main"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B4FD1-95C9-4017-8C8C-ACA96F45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47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73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97316"/>
                </a:solidFill>
                <a:latin typeface="PingFang SC"/>
                <a:ea typeface="PingFang SC"/>
                <a:cs typeface="PingFang SC"/>
              </a:rPr>
              <a:t>Fighter 主导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334EB-76B6-482E-A2BE-6CB3AF51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优先搭配 Thinker 帮你拆清打法，再搭配 Helper 稳住团队和关系。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FBDB4-D0E3-4BA8-A0D7-00BA4409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971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60A5FA">
              <a:alpha val="8627"/>
            </a:srgbClr>
          </a:solidFill>
          <a:ln xmlns:a="http://schemas.openxmlformats.org/drawingml/2006/main"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71757-C22E-4A38-A40F-834AEE20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05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0A5F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60A5FA"/>
                </a:solidFill>
                <a:latin typeface="PingFang SC"/>
                <a:ea typeface="PingFang SC"/>
                <a:cs typeface="PingFang SC"/>
              </a:rPr>
              <a:t>Thinker 主导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2B21D-31E1-4F6C-9C80-F7E6D1A0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956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优先搭配 Fighter 把判断推向市场，再搭配 Helper 处理共识和组织动员。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A43D9-F337-45E8-9A94-896680DE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971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2C55E">
              <a:alpha val="8627"/>
            </a:srgbClr>
          </a:solidFill>
          <a:ln xmlns:a="http://schemas.openxmlformats.org/drawingml/2006/main"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D8C29-4AA3-4DC7-9A30-E6B7751E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62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C5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2C55E"/>
                </a:solidFill>
                <a:latin typeface="PingFang SC"/>
                <a:ea typeface="PingFang SC"/>
                <a:cs typeface="PingFang SC"/>
              </a:rPr>
              <a:t>Helper 主导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E9E4D-DF40-436D-AD09-90D5C490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529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优先搭配 Fighter 增强破局与拍板，再搭配 Thinker 把经验沉淀成系统。</a:t>
            </a:r>
          </a:p>
        </p:txBody>
      </p:sp>
    </p:spTree>
    <p:extLst>
      <p:ext uri="{BB962C8B-B14F-4D97-AF65-F5344CB8AC3E}">
        <p14:creationId xmlns:p14="http://schemas.microsoft.com/office/powerpoint/2010/main" val="460681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9B108-C606-46B9-AFD4-C7B67000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315A5-836C-438A-A723-20FA857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95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5D393-6844-482F-BB90-7FE0C270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EAECA-EE57-439B-A7B3-9120BF4F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现场使用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B5D26-F583-4CA4-8A0B-55AAB8EF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扫码完成测评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215E1-BC09-4DA1-B00F-7B73D14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2632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A1508-A314-46F8-9310-7DD05FF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FTH创业者职业特质测评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281F2-F33B-4900-9E34-1B3676D7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建议现场完成后，用结果开启三类对话：自我理解、合伙人互补、团队协作方式。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123D0-7E1B-45BD-915E-8F5534A6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3AE5F-29D9-4D93-A9B3-A21B4CBD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测评链接：https://fthboss.msrtai.com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9E580-858E-4E9D-8A8E-00505AB8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15596-C2CE-489B-86D4-DEC75B6E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结果包含：特质排序、六型画像、适合行业、团队说明书。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8BB7C-B090-4DEA-9432-B214063F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CBE71-4A52-49B8-81CB-A864418F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91150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建议不要现场互相贴标签，而是讨论如何协作得更顺。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746dfe7564b65"/>
          <a:stretch xmlns:a="http://schemas.openxmlformats.org/drawingml/2006/main"/>
        </p:blipFill>
        <p:spPr>
          <a:xfrm xmlns:a="http://schemas.openxmlformats.org/drawingml/2006/main">
            <a:off x="7429500" y="914400"/>
            <a:ext cx="3000375" cy="4000500"/>
          </a:xfrm>
          <a:prstGeom xmlns:a="http://schemas.openxmlformats.org/drawingml/2006/main" prst="roundRect">
            <a:avLst>
              <a:gd name="adj" fmla="val 254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B2EE6-CD74-41C5-BF4E-570D5BF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19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ACC1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ACC15"/>
                </a:solidFill>
                <a:latin typeface="PingFang SC"/>
                <a:ea typeface="PingFang SC"/>
                <a:cs typeface="PingFang SC"/>
              </a:rPr>
              <a:t>https://fthboss.msrtai.com</a:t>
            </a:r>
          </a:p>
        </p:txBody>
      </p:sp>
    </p:spTree>
    <p:extLst>
      <p:ext uri="{BB962C8B-B14F-4D97-AF65-F5344CB8AC3E}">
        <p14:creationId xmlns:p14="http://schemas.microsoft.com/office/powerpoint/2010/main" val="266271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2026-06-28T05:44:24.7800000Z</dcterms:created>
  <dcterms:modified xsi:type="dcterms:W3CDTF">2026-06-28T05:44:24.7800000Z</dcterms:modified>
</coreProperties>
</file>